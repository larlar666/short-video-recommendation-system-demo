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9" r:id="rId3"/>
    <p:sldId id="261" r:id="rId4"/>
    <p:sldId id="265" r:id="rId5"/>
    <p:sldId id="267" r:id="rId6"/>
    <p:sldId id="283" r:id="rId7"/>
    <p:sldId id="271" r:id="rId8"/>
    <p:sldId id="273" r:id="rId9"/>
    <p:sldId id="277" r:id="rId10"/>
    <p:sldId id="278" r:id="rId11"/>
    <p:sldId id="282" r:id="rId12"/>
    <p:sldId id="280" r:id="rId13"/>
    <p:sldId id="288" r:id="rId14"/>
    <p:sldId id="289" r:id="rId15"/>
    <p:sldId id="285" r:id="rId16"/>
    <p:sldId id="274" r:id="rId17"/>
    <p:sldId id="286" r:id="rId18"/>
    <p:sldId id="287" r:id="rId19"/>
    <p:sldId id="275"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5FA"/>
    <a:srgbClr val="EAE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62403C-D4ED-45FA-86F5-EA2D211A0AD7}" type="datetimeFigureOut">
              <a:rPr lang="zh-CN" altLang="en-US" smtClean="0"/>
              <a:t>2026/6/7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CB301B-0B1A-48C1-AFFD-A4ECB335552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BCB301B-0B1A-48C1-AFFD-A4ECB335552E}" type="slidenum">
              <a:rPr lang="zh-CN" altLang="en-US" smtClean="0"/>
              <a:t>10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image" Target="../media/image6.sv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5.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4.svg"/><Relationship Id="rId5" Type="http://schemas.openxmlformats.org/officeDocument/2006/relationships/tags" Target="../tags/tag6.xml"/><Relationship Id="rId10" Type="http://schemas.openxmlformats.org/officeDocument/2006/relationships/slideLayout" Target="../slideLayouts/slideLayout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tags" Target="../tags/tag13.xml"/><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image" Target="../media/image15.pn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1.xml"/><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23.pn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22.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21.png"/><Relationship Id="rId5" Type="http://schemas.openxmlformats.org/officeDocument/2006/relationships/tags" Target="../tags/tag19.xml"/><Relationship Id="rId10" Type="http://schemas.openxmlformats.org/officeDocument/2006/relationships/slideLayout" Target="../slideLayouts/slideLayout1.xml"/><Relationship Id="rId4" Type="http://schemas.openxmlformats.org/officeDocument/2006/relationships/tags" Target="../tags/tag18.xml"/><Relationship Id="rId9" Type="http://schemas.openxmlformats.org/officeDocument/2006/relationships/tags" Target="../tags/tag2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18" Type="http://schemas.openxmlformats.org/officeDocument/2006/relationships/tags" Target="../tags/tag41.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tags" Target="../tags/tag40.xml"/><Relationship Id="rId2" Type="http://schemas.openxmlformats.org/officeDocument/2006/relationships/tags" Target="../tags/tag25.xml"/><Relationship Id="rId16" Type="http://schemas.openxmlformats.org/officeDocument/2006/relationships/tags" Target="../tags/tag39.xml"/><Relationship Id="rId20" Type="http://schemas.openxmlformats.org/officeDocument/2006/relationships/image" Target="../media/image37.png"/><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tags" Target="../tags/tag38.xml"/><Relationship Id="rId10" Type="http://schemas.openxmlformats.org/officeDocument/2006/relationships/tags" Target="../tags/tag33.xml"/><Relationship Id="rId19" Type="http://schemas.openxmlformats.org/officeDocument/2006/relationships/slideLayout" Target="../slideLayouts/slideLayout1.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4"/>
          <p:cNvSpPr txBox="1"/>
          <p:nvPr/>
        </p:nvSpPr>
        <p:spPr>
          <a:xfrm flipH="1" flipV="1">
            <a:off x="0" y="0"/>
            <a:ext cx="8862646" cy="5580185"/>
          </a:xfrm>
          <a:prstGeom prst="rect">
            <a:avLst/>
          </a:prstGeom>
          <a:gradFill>
            <a:gsLst>
              <a:gs pos="0">
                <a:schemeClr val="accent2">
                  <a:alpha val="35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椭圆 5"/>
          <p:cNvSpPr txBox="1"/>
          <p:nvPr/>
        </p:nvSpPr>
        <p:spPr>
          <a:xfrm flipH="1">
            <a:off x="6142892" y="-3894124"/>
            <a:ext cx="8323489" cy="8323489"/>
          </a:xfrm>
          <a:prstGeom prst="ellipse">
            <a:avLst/>
          </a:prstGeom>
          <a:gradFill>
            <a:gsLst>
              <a:gs pos="0">
                <a:schemeClr val="accent1">
                  <a:alpha val="49000"/>
                </a:schemeClr>
              </a:gs>
              <a:gs pos="82000">
                <a:schemeClr val="accent1">
                  <a:alpha val="0"/>
                </a:schemeClr>
              </a:gs>
            </a:gsLst>
            <a:path path="circle">
              <a:fillToRect l="100000" t="100000"/>
            </a:path>
            <a:tileRect r="-100000" b="-100000"/>
          </a:gradFill>
          <a:ln w="12700" cap="sq">
            <a:solidFill>
              <a:schemeClr val="bg1"/>
            </a:solidFill>
            <a:miter/>
          </a:ln>
          <a:effectLst>
            <a:outerShdw blurRad="419100" dist="304800" dir="8100000" algn="tr" rotWithShape="0">
              <a:schemeClr val="accent1">
                <a:alpha val="2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弧形 25"/>
          <p:cNvSpPr txBox="1"/>
          <p:nvPr/>
        </p:nvSpPr>
        <p:spPr>
          <a:xfrm>
            <a:off x="-773723" y="750277"/>
            <a:ext cx="2534261" cy="2534261"/>
          </a:xfrm>
          <a:prstGeom prst="arc">
            <a:avLst>
              <a:gd name="adj1" fmla="val 12908053"/>
              <a:gd name="adj2" fmla="val 4933653"/>
            </a:avLst>
          </a:prstGeom>
          <a:noFill/>
          <a:ln w="63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6" name="椭圆 24"/>
          <p:cNvSpPr txBox="1"/>
          <p:nvPr/>
        </p:nvSpPr>
        <p:spPr>
          <a:xfrm>
            <a:off x="435512" y="609600"/>
            <a:ext cx="289560" cy="289560"/>
          </a:xfrm>
          <a:prstGeom prst="ellipse">
            <a:avLst/>
          </a:prstGeom>
          <a:gradFill>
            <a:gsLst>
              <a:gs pos="0">
                <a:schemeClr val="accent2"/>
              </a:gs>
              <a:gs pos="100000">
                <a:schemeClr val="accent2">
                  <a:lumMod val="75000"/>
                </a:schemeClr>
              </a:gs>
            </a:gsLst>
            <a:path path="circle">
              <a:fillToRect l="100000" t="100000"/>
            </a:path>
            <a:tileRect r="-100000" b="-100000"/>
          </a:gradFill>
          <a:ln w="12700" cap="sq">
            <a:noFill/>
            <a:miter/>
          </a:ln>
          <a:effectLst>
            <a:outerShdw blurRad="190500" sx="102000" sy="102000" algn="ctr" rotWithShape="0">
              <a:srgbClr val="000000">
                <a:alpha val="32000"/>
              </a:srgbClr>
            </a:outerShdw>
          </a:effectLst>
        </p:spPr>
        <p:txBody>
          <a:bodyPr vert="horz" wrap="square" lIns="91440" tIns="45720" rIns="91440" bIns="45720" rtlCol="0" anchor="ctr"/>
          <a:lstStyle/>
          <a:p>
            <a:pPr algn="ctr">
              <a:lnSpc>
                <a:spcPct val="110000"/>
              </a:lnSpc>
            </a:pPr>
            <a:endParaRPr kumimoji="1" lang="zh-CN" altLang="en-US"/>
          </a:p>
        </p:txBody>
      </p:sp>
      <p:sp>
        <p:nvSpPr>
          <p:cNvPr id="7" name="任意多边形: 形状 32"/>
          <p:cNvSpPr txBox="1"/>
          <p:nvPr/>
        </p:nvSpPr>
        <p:spPr>
          <a:xfrm>
            <a:off x="0" y="1341120"/>
            <a:ext cx="8636854" cy="3657600"/>
          </a:xfrm>
          <a:custGeom>
            <a:avLst/>
            <a:gdLst>
              <a:gd name="connsiteX0" fmla="*/ 0 w 8564880"/>
              <a:gd name="connsiteY0" fmla="*/ 0 h 3627120"/>
              <a:gd name="connsiteX1" fmla="*/ 6751320 w 8564880"/>
              <a:gd name="connsiteY1" fmla="*/ 0 h 3627120"/>
              <a:gd name="connsiteX2" fmla="*/ 8564880 w 8564880"/>
              <a:gd name="connsiteY2" fmla="*/ 1813560 h 3627120"/>
              <a:gd name="connsiteX3" fmla="*/ 6751320 w 8564880"/>
              <a:gd name="connsiteY3" fmla="*/ 3627120 h 3627120"/>
              <a:gd name="connsiteX4" fmla="*/ 0 w 8564880"/>
              <a:gd name="connsiteY4" fmla="*/ 3627120 h 3627120"/>
              <a:gd name="connsiteX5" fmla="*/ 0 w 8564880"/>
              <a:gd name="connsiteY5" fmla="*/ 0 h 3627120"/>
            </a:gdLst>
            <a:ahLst/>
            <a:cxnLst/>
            <a:rect l="l" t="t" r="r" b="b"/>
            <a:pathLst>
              <a:path w="8564880" h="3627120">
                <a:moveTo>
                  <a:pt x="0" y="0"/>
                </a:moveTo>
                <a:lnTo>
                  <a:pt x="6751320" y="0"/>
                </a:lnTo>
                <a:cubicBezTo>
                  <a:pt x="7752922" y="0"/>
                  <a:pt x="8564880" y="811958"/>
                  <a:pt x="8564880" y="1813560"/>
                </a:cubicBezTo>
                <a:cubicBezTo>
                  <a:pt x="8564880" y="2815162"/>
                  <a:pt x="7752922" y="3627120"/>
                  <a:pt x="6751320" y="3627120"/>
                </a:cubicBezTo>
                <a:lnTo>
                  <a:pt x="0" y="3627120"/>
                </a:lnTo>
                <a:lnTo>
                  <a:pt x="0" y="0"/>
                </a:lnTo>
                <a:close/>
              </a:path>
            </a:pathLst>
          </a:custGeom>
          <a:solidFill>
            <a:schemeClr val="bg1">
              <a:alpha val="80000"/>
            </a:schemeClr>
          </a:solidFill>
          <a:ln w="12700" cap="sq">
            <a:solidFill>
              <a:schemeClr val="bg1">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8" name="任意多边形: 形状 37"/>
          <p:cNvSpPr txBox="1"/>
          <p:nvPr/>
        </p:nvSpPr>
        <p:spPr>
          <a:xfrm>
            <a:off x="0" y="4658262"/>
            <a:ext cx="470958" cy="2199739"/>
          </a:xfrm>
          <a:custGeom>
            <a:avLst/>
            <a:gdLst>
              <a:gd name="connsiteX0" fmla="*/ 0 w 470958"/>
              <a:gd name="connsiteY0" fmla="*/ 0 h 2199739"/>
              <a:gd name="connsiteX1" fmla="*/ 15227 w 470958"/>
              <a:gd name="connsiteY1" fmla="*/ 1535 h 2199739"/>
              <a:gd name="connsiteX2" fmla="*/ 470958 w 470958"/>
              <a:gd name="connsiteY2" fmla="*/ 560698 h 2199739"/>
              <a:gd name="connsiteX3" fmla="*/ 470957 w 470958"/>
              <a:gd name="connsiteY3" fmla="*/ 2199739 h 2199739"/>
              <a:gd name="connsiteX4" fmla="*/ 0 w 470958"/>
              <a:gd name="connsiteY4" fmla="*/ 2199739 h 2199739"/>
              <a:gd name="connsiteX5" fmla="*/ 0 w 470958"/>
              <a:gd name="connsiteY5" fmla="*/ 0 h 2199739"/>
            </a:gdLst>
            <a:ahLst/>
            <a:cxnLst/>
            <a:rect l="l" t="t" r="r" b="b"/>
            <a:pathLst>
              <a:path w="470958" h="2199739">
                <a:moveTo>
                  <a:pt x="0" y="0"/>
                </a:moveTo>
                <a:lnTo>
                  <a:pt x="15227" y="1535"/>
                </a:lnTo>
                <a:cubicBezTo>
                  <a:pt x="275312" y="54756"/>
                  <a:pt x="470958" y="284880"/>
                  <a:pt x="470958" y="560698"/>
                </a:cubicBezTo>
                <a:lnTo>
                  <a:pt x="470957" y="2199739"/>
                </a:lnTo>
                <a:lnTo>
                  <a:pt x="0" y="2199739"/>
                </a:lnTo>
                <a:lnTo>
                  <a:pt x="0" y="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椭圆 13"/>
          <p:cNvSpPr txBox="1"/>
          <p:nvPr/>
        </p:nvSpPr>
        <p:spPr>
          <a:xfrm flipH="1">
            <a:off x="5713826" y="2395168"/>
            <a:ext cx="8672733" cy="8672736"/>
          </a:xfrm>
          <a:prstGeom prst="ellipse">
            <a:avLst/>
          </a:prstGeom>
          <a:solidFill>
            <a:schemeClr val="bg1">
              <a:alpha val="16000"/>
            </a:schemeClr>
          </a:solidFill>
          <a:ln w="12700" cap="sq">
            <a:solidFill>
              <a:schemeClr val="accent2"/>
            </a:solidFill>
            <a:miter/>
          </a:ln>
          <a:effectLst>
            <a:outerShdw blurRad="419100" dist="304800" dir="8100000" algn="tr" rotWithShape="0">
              <a:schemeClr val="accent1">
                <a:alpha val="2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5" name="任意多边形: 形状 11"/>
          <p:cNvSpPr txBox="1"/>
          <p:nvPr/>
        </p:nvSpPr>
        <p:spPr>
          <a:xfrm flipH="1">
            <a:off x="9260953" y="3270314"/>
            <a:ext cx="2033424" cy="1159053"/>
          </a:xfrm>
          <a:custGeom>
            <a:avLst/>
            <a:gdLst>
              <a:gd name="connsiteX0" fmla="*/ 879230 w 1758460"/>
              <a:gd name="connsiteY0" fmla="*/ 0 h 1002323"/>
              <a:gd name="connsiteX1" fmla="*/ 0 w 1758460"/>
              <a:gd name="connsiteY1" fmla="*/ 879231 h 1002323"/>
              <a:gd name="connsiteX2" fmla="*/ 1014 w 1758460"/>
              <a:gd name="connsiteY2" fmla="*/ 899328 h 1002323"/>
              <a:gd name="connsiteX3" fmla="*/ 130464 w 1758460"/>
              <a:gd name="connsiteY3" fmla="*/ 929204 h 1002323"/>
              <a:gd name="connsiteX4" fmla="*/ 855784 w 1758460"/>
              <a:gd name="connsiteY4" fmla="*/ 1002323 h 1002323"/>
              <a:gd name="connsiteX5" fmla="*/ 1755228 w 1758460"/>
              <a:gd name="connsiteY5" fmla="*/ 889017 h 1002323"/>
              <a:gd name="connsiteX6" fmla="*/ 1758006 w 1758460"/>
              <a:gd name="connsiteY6" fmla="*/ 888228 h 1002323"/>
              <a:gd name="connsiteX7" fmla="*/ 1758460 w 1758460"/>
              <a:gd name="connsiteY7" fmla="*/ 879231 h 1002323"/>
              <a:gd name="connsiteX8" fmla="*/ 879230 w 1758460"/>
              <a:gd name="connsiteY8" fmla="*/ 0 h 1002323"/>
            </a:gdLst>
            <a:ahLst/>
            <a:cxnLst/>
            <a:rect l="l" t="t" r="r" b="b"/>
            <a:pathLst>
              <a:path w="1758460" h="1002323">
                <a:moveTo>
                  <a:pt x="879230" y="0"/>
                </a:moveTo>
                <a:cubicBezTo>
                  <a:pt x="393644" y="0"/>
                  <a:pt x="0" y="393645"/>
                  <a:pt x="0" y="879231"/>
                </a:cubicBezTo>
                <a:lnTo>
                  <a:pt x="1014" y="899328"/>
                </a:lnTo>
                <a:lnTo>
                  <a:pt x="130464" y="929204"/>
                </a:lnTo>
                <a:cubicBezTo>
                  <a:pt x="364748" y="977146"/>
                  <a:pt x="607326" y="1002323"/>
                  <a:pt x="855784" y="1002323"/>
                </a:cubicBezTo>
                <a:cubicBezTo>
                  <a:pt x="1166356" y="1002323"/>
                  <a:pt x="1467742" y="962984"/>
                  <a:pt x="1755228" y="889017"/>
                </a:cubicBezTo>
                <a:lnTo>
                  <a:pt x="1758006" y="888228"/>
                </a:lnTo>
                <a:lnTo>
                  <a:pt x="1758460" y="879231"/>
                </a:lnTo>
                <a:cubicBezTo>
                  <a:pt x="1758460" y="393645"/>
                  <a:pt x="1364816" y="0"/>
                  <a:pt x="879230" y="0"/>
                </a:cubicBezTo>
                <a:close/>
              </a:path>
            </a:pathLst>
          </a:custGeom>
          <a:gradFill>
            <a:gsLst>
              <a:gs pos="0">
                <a:schemeClr val="accent2">
                  <a:alpha val="0"/>
                </a:schemeClr>
              </a:gs>
              <a:gs pos="100000">
                <a:schemeClr val="accent2">
                  <a:alpha val="64000"/>
                </a:schemeClr>
              </a:gs>
            </a:gsLst>
            <a:path path="circle">
              <a:fillToRect l="100000" t="100000"/>
            </a:path>
            <a:tileRect r="-100000" b="-100000"/>
          </a:gradFill>
          <a:ln w="12700" cap="sq">
            <a:noFill/>
            <a:miter/>
          </a:ln>
          <a:effectLst>
            <a:outerShdw blurRad="419100" dist="304800" dir="8100000" algn="tr" rotWithShape="0">
              <a:schemeClr val="accent1">
                <a:alpha val="2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6" name="任意多边形: 形状 9"/>
          <p:cNvSpPr txBox="1"/>
          <p:nvPr/>
        </p:nvSpPr>
        <p:spPr>
          <a:xfrm flipH="1">
            <a:off x="9261802" y="4304480"/>
            <a:ext cx="2031726" cy="1006309"/>
          </a:xfrm>
          <a:custGeom>
            <a:avLst/>
            <a:gdLst>
              <a:gd name="connsiteX0" fmla="*/ 1756992 w 1756992"/>
              <a:gd name="connsiteY0" fmla="*/ 0 h 870234"/>
              <a:gd name="connsiteX1" fmla="*/ 1754214 w 1756992"/>
              <a:gd name="connsiteY1" fmla="*/ 789 h 870234"/>
              <a:gd name="connsiteX2" fmla="*/ 854770 w 1756992"/>
              <a:gd name="connsiteY2" fmla="*/ 114095 h 870234"/>
              <a:gd name="connsiteX3" fmla="*/ 129450 w 1756992"/>
              <a:gd name="connsiteY3" fmla="*/ 40976 h 870234"/>
              <a:gd name="connsiteX4" fmla="*/ 0 w 1756992"/>
              <a:gd name="connsiteY4" fmla="*/ 11100 h 870234"/>
              <a:gd name="connsiteX5" fmla="*/ 3526 w 1756992"/>
              <a:gd name="connsiteY5" fmla="*/ 80899 h 870234"/>
              <a:gd name="connsiteX6" fmla="*/ 878216 w 1756992"/>
              <a:gd name="connsiteY6" fmla="*/ 870234 h 870234"/>
              <a:gd name="connsiteX7" fmla="*/ 1752906 w 1756992"/>
              <a:gd name="connsiteY7" fmla="*/ 80899 h 870234"/>
              <a:gd name="connsiteX8" fmla="*/ 1756992 w 1756992"/>
              <a:gd name="connsiteY8" fmla="*/ 0 h 870234"/>
            </a:gdLst>
            <a:ahLst/>
            <a:cxnLst/>
            <a:rect l="l" t="t" r="r" b="b"/>
            <a:pathLst>
              <a:path w="1756992" h="870234">
                <a:moveTo>
                  <a:pt x="1756992" y="0"/>
                </a:moveTo>
                <a:lnTo>
                  <a:pt x="1754214" y="789"/>
                </a:lnTo>
                <a:cubicBezTo>
                  <a:pt x="1466728" y="74756"/>
                  <a:pt x="1165342" y="114095"/>
                  <a:pt x="854770" y="114095"/>
                </a:cubicBezTo>
                <a:cubicBezTo>
                  <a:pt x="606312" y="114095"/>
                  <a:pt x="363734" y="88918"/>
                  <a:pt x="129450" y="40976"/>
                </a:cubicBezTo>
                <a:lnTo>
                  <a:pt x="0" y="11100"/>
                </a:lnTo>
                <a:lnTo>
                  <a:pt x="3526" y="80899"/>
                </a:lnTo>
                <a:cubicBezTo>
                  <a:pt x="48550" y="524257"/>
                  <a:pt x="422980" y="870234"/>
                  <a:pt x="878216" y="870234"/>
                </a:cubicBezTo>
                <a:cubicBezTo>
                  <a:pt x="1333452" y="870234"/>
                  <a:pt x="1707882" y="524257"/>
                  <a:pt x="1752906" y="80899"/>
                </a:cubicBezTo>
                <a:lnTo>
                  <a:pt x="1756992" y="0"/>
                </a:lnTo>
                <a:close/>
              </a:path>
            </a:pathLst>
          </a:custGeom>
          <a:gradFill>
            <a:gsLst>
              <a:gs pos="0">
                <a:schemeClr val="accent2"/>
              </a:gs>
              <a:gs pos="82000">
                <a:schemeClr val="accent2">
                  <a:lumMod val="75000"/>
                </a:schemeClr>
              </a:gs>
            </a:gsLst>
            <a:path path="circle">
              <a:fillToRect l="100000" t="100000"/>
            </a:path>
            <a:tileRect r="-100000" b="-100000"/>
          </a:gradFill>
          <a:ln w="12700" cap="sq">
            <a:solidFill>
              <a:schemeClr val="bg1"/>
            </a:solidFill>
            <a:miter/>
          </a:ln>
          <a:effectLst>
            <a:outerShdw blurRad="419100" dist="304800" dir="8100000" algn="tr" rotWithShape="0">
              <a:schemeClr val="accent1">
                <a:alpha val="2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7" name="椭圆 12"/>
          <p:cNvSpPr txBox="1"/>
          <p:nvPr/>
        </p:nvSpPr>
        <p:spPr>
          <a:xfrm>
            <a:off x="8986856" y="4028104"/>
            <a:ext cx="493445" cy="493445"/>
          </a:xfrm>
          <a:prstGeom prst="ellipse">
            <a:avLst/>
          </a:prstGeom>
          <a:gradFill>
            <a:gsLst>
              <a:gs pos="0">
                <a:schemeClr val="accent1"/>
              </a:gs>
              <a:gs pos="100000">
                <a:schemeClr val="accent1">
                  <a:lumMod val="75000"/>
                </a:schemeClr>
              </a:gs>
            </a:gsLst>
            <a:path path="circle">
              <a:fillToRect l="100000" t="100000"/>
            </a:path>
            <a:tileRect r="-100000" b="-100000"/>
          </a:gradFill>
          <a:ln w="12700" cap="sq">
            <a:noFill/>
            <a:miter/>
          </a:ln>
          <a:effectLst>
            <a:outerShdw blurRad="190500" sx="102000" sy="102000" algn="ctr" rotWithShape="0">
              <a:srgbClr val="000000">
                <a:alpha val="32000"/>
              </a:srgbClr>
            </a:outerShdw>
          </a:effectLst>
        </p:spPr>
        <p:txBody>
          <a:bodyPr vert="horz" wrap="square" lIns="91440" tIns="45720" rIns="91440" bIns="45720" rtlCol="0" anchor="ctr"/>
          <a:lstStyle/>
          <a:p>
            <a:pPr algn="ctr">
              <a:lnSpc>
                <a:spcPct val="110000"/>
              </a:lnSpc>
            </a:pPr>
            <a:endParaRPr kumimoji="1" lang="zh-CN" altLang="en-US"/>
          </a:p>
        </p:txBody>
      </p:sp>
      <p:sp>
        <p:nvSpPr>
          <p:cNvPr id="18" name="任意多边形: 形状 47"/>
          <p:cNvSpPr txBox="1"/>
          <p:nvPr/>
        </p:nvSpPr>
        <p:spPr>
          <a:xfrm>
            <a:off x="660400" y="6235699"/>
            <a:ext cx="584741" cy="108086"/>
          </a:xfrm>
          <a:custGeom>
            <a:avLst/>
            <a:gdLst>
              <a:gd name="connsiteX0" fmla="*/ 530698 w 584741"/>
              <a:gd name="connsiteY0" fmla="*/ 0 h 108086"/>
              <a:gd name="connsiteX1" fmla="*/ 584741 w 584741"/>
              <a:gd name="connsiteY1" fmla="*/ 54043 h 108086"/>
              <a:gd name="connsiteX2" fmla="*/ 530698 w 584741"/>
              <a:gd name="connsiteY2" fmla="*/ 108086 h 108086"/>
              <a:gd name="connsiteX3" fmla="*/ 476655 w 584741"/>
              <a:gd name="connsiteY3" fmla="*/ 54043 h 108086"/>
              <a:gd name="connsiteX4" fmla="*/ 530698 w 584741"/>
              <a:gd name="connsiteY4" fmla="*/ 0 h 108086"/>
              <a:gd name="connsiteX5" fmla="*/ 292371 w 584741"/>
              <a:gd name="connsiteY5" fmla="*/ 0 h 108086"/>
              <a:gd name="connsiteX6" fmla="*/ 346414 w 584741"/>
              <a:gd name="connsiteY6" fmla="*/ 54043 h 108086"/>
              <a:gd name="connsiteX7" fmla="*/ 292371 w 584741"/>
              <a:gd name="connsiteY7" fmla="*/ 108086 h 108086"/>
              <a:gd name="connsiteX8" fmla="*/ 238328 w 584741"/>
              <a:gd name="connsiteY8" fmla="*/ 54043 h 108086"/>
              <a:gd name="connsiteX9" fmla="*/ 292371 w 584741"/>
              <a:gd name="connsiteY9" fmla="*/ 0 h 108086"/>
              <a:gd name="connsiteX10" fmla="*/ 54043 w 584741"/>
              <a:gd name="connsiteY10" fmla="*/ 0 h 108086"/>
              <a:gd name="connsiteX11" fmla="*/ 108086 w 584741"/>
              <a:gd name="connsiteY11" fmla="*/ 54043 h 108086"/>
              <a:gd name="connsiteX12" fmla="*/ 54043 w 584741"/>
              <a:gd name="connsiteY12" fmla="*/ 108086 h 108086"/>
              <a:gd name="connsiteX13" fmla="*/ 0 w 584741"/>
              <a:gd name="connsiteY13" fmla="*/ 54043 h 108086"/>
              <a:gd name="connsiteX14" fmla="*/ 54043 w 584741"/>
              <a:gd name="connsiteY14" fmla="*/ 0 h 108086"/>
            </a:gdLst>
            <a:ahLst/>
            <a:cxnLst/>
            <a:rect l="l" t="t" r="r" b="b"/>
            <a:pathLst>
              <a:path w="584741" h="108086">
                <a:moveTo>
                  <a:pt x="530698" y="0"/>
                </a:moveTo>
                <a:cubicBezTo>
                  <a:pt x="560545" y="0"/>
                  <a:pt x="584741" y="24196"/>
                  <a:pt x="584741" y="54043"/>
                </a:cubicBezTo>
                <a:cubicBezTo>
                  <a:pt x="584741" y="83890"/>
                  <a:pt x="560545" y="108086"/>
                  <a:pt x="530698" y="108086"/>
                </a:cubicBezTo>
                <a:cubicBezTo>
                  <a:pt x="500851" y="108086"/>
                  <a:pt x="476655" y="83890"/>
                  <a:pt x="476655" y="54043"/>
                </a:cubicBezTo>
                <a:cubicBezTo>
                  <a:pt x="476655" y="24196"/>
                  <a:pt x="500851" y="0"/>
                  <a:pt x="530698" y="0"/>
                </a:cubicBezTo>
                <a:close/>
                <a:moveTo>
                  <a:pt x="292371" y="0"/>
                </a:moveTo>
                <a:cubicBezTo>
                  <a:pt x="322218" y="0"/>
                  <a:pt x="346414" y="24196"/>
                  <a:pt x="346414" y="54043"/>
                </a:cubicBezTo>
                <a:cubicBezTo>
                  <a:pt x="346414" y="83890"/>
                  <a:pt x="322218" y="108086"/>
                  <a:pt x="292371" y="108086"/>
                </a:cubicBezTo>
                <a:cubicBezTo>
                  <a:pt x="262524" y="108086"/>
                  <a:pt x="238328" y="83890"/>
                  <a:pt x="238328" y="54043"/>
                </a:cubicBezTo>
                <a:cubicBezTo>
                  <a:pt x="238328" y="24196"/>
                  <a:pt x="262524" y="0"/>
                  <a:pt x="292371" y="0"/>
                </a:cubicBezTo>
                <a:close/>
                <a:moveTo>
                  <a:pt x="54043" y="0"/>
                </a:moveTo>
                <a:cubicBezTo>
                  <a:pt x="83890" y="0"/>
                  <a:pt x="108086" y="24196"/>
                  <a:pt x="108086" y="54043"/>
                </a:cubicBezTo>
                <a:cubicBezTo>
                  <a:pt x="108086" y="83890"/>
                  <a:pt x="83890" y="108086"/>
                  <a:pt x="54043" y="108086"/>
                </a:cubicBezTo>
                <a:cubicBezTo>
                  <a:pt x="24196" y="108086"/>
                  <a:pt x="0" y="83890"/>
                  <a:pt x="0" y="54043"/>
                </a:cubicBezTo>
                <a:cubicBezTo>
                  <a:pt x="0" y="24196"/>
                  <a:pt x="24196" y="0"/>
                  <a:pt x="54043" y="0"/>
                </a:cubicBezTo>
                <a:close/>
              </a:path>
            </a:pathLst>
          </a:custGeom>
          <a:gradFill>
            <a:gsLst>
              <a:gs pos="0">
                <a:schemeClr val="accent1"/>
              </a:gs>
              <a:gs pos="100000">
                <a:schemeClr val="accent2"/>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14"/>
          <p:cNvSpPr txBox="1"/>
          <p:nvPr/>
        </p:nvSpPr>
        <p:spPr>
          <a:xfrm>
            <a:off x="526048" y="2081174"/>
            <a:ext cx="7664081" cy="2303808"/>
          </a:xfrm>
          <a:prstGeom prst="rect">
            <a:avLst/>
          </a:prstGeom>
          <a:noFill/>
          <a:ln>
            <a:noFill/>
          </a:ln>
        </p:spPr>
        <p:txBody>
          <a:bodyPr vert="horz" wrap="square" lIns="0" tIns="0" rIns="0" bIns="0" rtlCol="0" anchor="ctr"/>
          <a:lstStyle/>
          <a:p>
            <a:pPr algn="l">
              <a:lnSpc>
                <a:spcPct val="130000"/>
              </a:lnSpc>
            </a:pPr>
            <a:r>
              <a:rPr kumimoji="1" lang="zh-CN" altLang="en-US" sz="5400" b="1" dirty="0">
                <a:ln w="12700">
                  <a:noFill/>
                </a:ln>
                <a:solidFill>
                  <a:schemeClr val="bg2">
                    <a:lumMod val="25000"/>
                  </a:schemeClr>
                </a:solidFill>
                <a:latin typeface="微软雅黑" panose="020B0503020204020204" pitchFamily="34" charset="-122"/>
                <a:ea typeface="微软雅黑" panose="020B0503020204020204" pitchFamily="34" charset="-122"/>
                <a:cs typeface="Source Han Sans CN Regular"/>
              </a:rPr>
              <a:t>短视频推荐系统项目讲解</a:t>
            </a:r>
          </a:p>
          <a:p>
            <a:pPr algn="l">
              <a:lnSpc>
                <a:spcPct val="130000"/>
              </a:lnSpc>
            </a:pPr>
            <a:endParaRPr kumimoji="1" lang="zh-CN" altLang="en-US" dirty="0"/>
          </a:p>
        </p:txBody>
      </p:sp>
      <p:sp>
        <p:nvSpPr>
          <p:cNvPr id="20" name="文本框 19"/>
          <p:cNvSpPr txBox="1"/>
          <p:nvPr>
            <p:custDataLst>
              <p:tags r:id="rId1"/>
            </p:custDataLst>
          </p:nvPr>
        </p:nvSpPr>
        <p:spPr>
          <a:xfrm>
            <a:off x="470958" y="4301789"/>
            <a:ext cx="4998107" cy="400110"/>
          </a:xfrm>
          <a:prstGeom prst="rect">
            <a:avLst/>
          </a:prstGeom>
          <a:noFill/>
        </p:spPr>
        <p:txBody>
          <a:bodyPr wrap="square" rtlCol="0">
            <a:spAutoFit/>
          </a:bodyPr>
          <a:lstStyle/>
          <a:p>
            <a:r>
              <a:rPr lang="zh-CN" altLang="en-US" sz="2000" dirty="0">
                <a:solidFill>
                  <a:schemeClr val="bg2">
                    <a:lumMod val="25000"/>
                  </a:schemeClr>
                </a:solidFill>
                <a:latin typeface="微软雅黑" panose="020B0503020204020204" pitchFamily="34" charset="-122"/>
                <a:ea typeface="微软雅黑" panose="020B0503020204020204" pitchFamily="34" charset="-122"/>
              </a:rPr>
              <a:t>团队：刘安然 </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陈钰婷 </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陈妍 </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任怡博</a:t>
            </a:r>
            <a:endParaRPr lang="en-US" altLang="zh-CN" sz="2000" dirty="0">
              <a:solidFill>
                <a:schemeClr val="bg2">
                  <a:lumMod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7"/>
          <p:cNvSpPr txBox="1"/>
          <p:nvPr/>
        </p:nvSpPr>
        <p:spPr>
          <a:xfrm>
            <a:off x="0" y="-21277"/>
            <a:ext cx="12192000" cy="6858000"/>
          </a:xfrm>
          <a:prstGeom prst="rect">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3769480">
            <a:off x="1960662" y="1885105"/>
            <a:ext cx="400275" cy="400275"/>
          </a:xfrm>
          <a:prstGeom prst="diamond">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3769480">
            <a:off x="1993971" y="2735183"/>
            <a:ext cx="400275" cy="400275"/>
          </a:xfrm>
          <a:prstGeom prst="diamond">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16932546">
            <a:off x="3158263" y="1937513"/>
            <a:ext cx="400275" cy="400275"/>
          </a:xfrm>
          <a:prstGeom prst="diamond">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项目概览</a:t>
            </a:r>
            <a:endParaRPr kumimoji="1" lang="zh-CN" altLang="en-US" b="1" dirty="0">
              <a:latin typeface="微软雅黑" panose="020B0503020204020204" pitchFamily="34" charset="-122"/>
              <a:ea typeface="微软雅黑" panose="020B0503020204020204" pitchFamily="34" charset="-122"/>
            </a:endParaRPr>
          </a:p>
        </p:txBody>
      </p:sp>
      <p:sp>
        <p:nvSpPr>
          <p:cNvPr id="13"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AutoShape 3"/>
          <p:cNvSpPr/>
          <p:nvPr/>
        </p:nvSpPr>
        <p:spPr>
          <a:xfrm>
            <a:off x="762000" y="1651000"/>
            <a:ext cx="3302000" cy="4572000"/>
          </a:xfrm>
          <a:prstGeom prst="roundRect">
            <a:avLst>
              <a:gd name="adj" fmla="val 3076"/>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a:p>
        </p:txBody>
      </p:sp>
      <p:pic>
        <p:nvPicPr>
          <p:cNvPr id="17"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304800" cy="304800"/>
          </a:xfrm>
          <a:prstGeom prst="rect">
            <a:avLst/>
          </a:prstGeom>
        </p:spPr>
      </p:pic>
      <p:sp>
        <p:nvSpPr>
          <p:cNvPr id="18" name="AutoShape 5"/>
          <p:cNvSpPr/>
          <p:nvPr/>
        </p:nvSpPr>
        <p:spPr>
          <a:xfrm>
            <a:off x="1460500" y="1879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a:t>
            </a:r>
            <a:r>
              <a:rPr lang="en-US" sz="20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endParaRPr lang="en-US" sz="1100" dirty="0"/>
          </a:p>
        </p:txBody>
      </p:sp>
      <p:sp>
        <p:nvSpPr>
          <p:cNvPr id="19" name="AutoShape 6"/>
          <p:cNvSpPr/>
          <p:nvPr/>
        </p:nvSpPr>
        <p:spPr>
          <a:xfrm>
            <a:off x="1043636" y="2395702"/>
            <a:ext cx="2766363" cy="339549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pP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近年来，以抖音，快手为代表的移动短视频风靡全球，掀起了新一轮的移动互联网的应用浪潮。这类系统的核心算法之一就是推荐算法。</a:t>
            </a:r>
            <a:endPar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本项目旨在构建一套短视频用户行为分析与推荐仿真平台，模拟从视频入库、用户行为产生、相似用户分析到个性化推荐的完整链路。</a:t>
            </a:r>
            <a:endPar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7"/>
          <p:cNvSpPr/>
          <p:nvPr/>
        </p:nvSpPr>
        <p:spPr>
          <a:xfrm>
            <a:off x="4445000" y="1651000"/>
            <a:ext cx="3302000" cy="4572000"/>
          </a:xfrm>
          <a:prstGeom prst="roundRect">
            <a:avLst>
              <a:gd name="adj" fmla="val 3076"/>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a:p>
        </p:txBody>
      </p:sp>
      <p:pic>
        <p:nvPicPr>
          <p:cNvPr id="21"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99000" y="1905000"/>
            <a:ext cx="304800" cy="304800"/>
          </a:xfrm>
          <a:prstGeom prst="rect">
            <a:avLst/>
          </a:prstGeom>
        </p:spPr>
      </p:pic>
      <p:sp>
        <p:nvSpPr>
          <p:cNvPr id="22" name="AutoShape 9"/>
          <p:cNvSpPr/>
          <p:nvPr/>
        </p:nvSpPr>
        <p:spPr>
          <a:xfrm>
            <a:off x="5143500" y="1879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核心数据规模</a:t>
            </a:r>
            <a:endParaRPr lang="en-US" sz="1100"/>
          </a:p>
        </p:txBody>
      </p:sp>
      <p:sp>
        <p:nvSpPr>
          <p:cNvPr id="23" name="AutoShape 10"/>
          <p:cNvSpPr/>
          <p:nvPr/>
        </p:nvSpPr>
        <p:spPr>
          <a:xfrm>
            <a:off x="4635500" y="2667000"/>
            <a:ext cx="1460500" cy="1397000"/>
          </a:xfrm>
          <a:prstGeom prst="roundRect">
            <a:avLst>
              <a:gd name="adj" fmla="val 3636"/>
            </a:avLst>
          </a:prstGeom>
          <a:solidFill>
            <a:srgbClr val="FFFFFF">
              <a:alpha val="0"/>
            </a:srgbClr>
          </a:solidFill>
          <a:ln w="25400" cap="flat" cmpd="sng">
            <a:noFill/>
            <a:prstDash val="solid"/>
            <a:round/>
          </a:ln>
        </p:spPr>
        <p:txBody>
          <a:bodyPr vert="horz" wrap="square" lIns="0" tIns="0" rIns="0" bIns="0" rtlCol="0" anchor="ctr" anchorCtr="0"/>
          <a:lstStyle/>
          <a:p>
            <a:pPr algn="ctr">
              <a:defRPr/>
            </a:pPr>
            <a:endParaRPr/>
          </a:p>
        </p:txBody>
      </p:sp>
      <p:sp>
        <p:nvSpPr>
          <p:cNvPr id="24" name="AutoShape 11"/>
          <p:cNvSpPr/>
          <p:nvPr/>
        </p:nvSpPr>
        <p:spPr>
          <a:xfrm>
            <a:off x="4699000" y="2768600"/>
            <a:ext cx="1333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1000万+</a:t>
            </a:r>
            <a:endParaRPr lang="en-US" sz="1100" dirty="0"/>
          </a:p>
          <a:p>
            <a:pPr marL="0" indent="0" algn="ctr">
              <a:lnSpc>
                <a:spcPct val="125000"/>
              </a:lnSpc>
            </a:pPr>
            <a:r>
              <a:rPr lang="en-US" sz="12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TikTok </a:t>
            </a:r>
            <a:r>
              <a:rPr lang="zh-CN" altLang="en-US" sz="1200"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真实视频</a:t>
            </a:r>
            <a:endParaRPr lang="en-US" altLang="zh-CN" sz="1200"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2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原始数据集记录</a:t>
            </a:r>
            <a:endParaRPr lang="en-US" sz="12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12"/>
          <p:cNvSpPr/>
          <p:nvPr/>
        </p:nvSpPr>
        <p:spPr>
          <a:xfrm>
            <a:off x="6223000" y="2667000"/>
            <a:ext cx="1460500" cy="1397000"/>
          </a:xfrm>
          <a:prstGeom prst="roundRect">
            <a:avLst>
              <a:gd name="adj" fmla="val 3636"/>
            </a:avLst>
          </a:prstGeom>
          <a:solidFill>
            <a:srgbClr val="FFFFFF">
              <a:alpha val="0"/>
            </a:srgbClr>
          </a:solidFill>
          <a:ln w="25400" cap="flat" cmpd="sng">
            <a:noFill/>
            <a:prstDash val="solid"/>
            <a:round/>
          </a:ln>
        </p:spPr>
        <p:txBody>
          <a:bodyPr vert="horz" wrap="square" lIns="0" tIns="0" rIns="0" bIns="0" rtlCol="0" anchor="ctr" anchorCtr="0"/>
          <a:lstStyle/>
          <a:p>
            <a:pPr algn="ctr">
              <a:defRPr/>
            </a:pPr>
            <a:endParaRPr/>
          </a:p>
        </p:txBody>
      </p:sp>
      <p:sp>
        <p:nvSpPr>
          <p:cNvPr id="26" name="AutoShape 13"/>
          <p:cNvSpPr/>
          <p:nvPr/>
        </p:nvSpPr>
        <p:spPr>
          <a:xfrm>
            <a:off x="6286500" y="2794000"/>
            <a:ext cx="1333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10万+</a:t>
            </a:r>
            <a:endParaRPr lang="en-US" sz="1100" dirty="0"/>
          </a:p>
          <a:p>
            <a:pPr marL="0" indent="0" algn="ctr">
              <a:lnSpc>
                <a:spcPct val="125000"/>
              </a:lnSpc>
              <a:spcBef>
                <a:spcPts val="600"/>
              </a:spcBef>
            </a:pPr>
            <a:r>
              <a:rPr lang="en-US" sz="12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清洗后高质量视频库</a:t>
            </a:r>
            <a:endParaRPr lang="en-US" sz="12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14"/>
          <p:cNvSpPr/>
          <p:nvPr/>
        </p:nvSpPr>
        <p:spPr>
          <a:xfrm>
            <a:off x="4635500" y="4318000"/>
            <a:ext cx="1460500" cy="1397000"/>
          </a:xfrm>
          <a:prstGeom prst="roundRect">
            <a:avLst>
              <a:gd name="adj" fmla="val 3636"/>
            </a:avLst>
          </a:prstGeom>
          <a:solidFill>
            <a:srgbClr val="FFFFFF">
              <a:alpha val="0"/>
            </a:srgbClr>
          </a:solidFill>
          <a:ln w="25400" cap="flat" cmpd="sng">
            <a:noFill/>
            <a:prstDash val="solid"/>
            <a:round/>
          </a:ln>
        </p:spPr>
        <p:txBody>
          <a:bodyPr vert="horz" wrap="square" lIns="0" tIns="0" rIns="0" bIns="0" rtlCol="0" anchor="ctr" anchorCtr="0"/>
          <a:lstStyle/>
          <a:p>
            <a:pPr algn="ctr">
              <a:defRPr/>
            </a:pPr>
            <a:endParaRPr/>
          </a:p>
        </p:txBody>
      </p:sp>
      <p:sp>
        <p:nvSpPr>
          <p:cNvPr id="28" name="AutoShape 15"/>
          <p:cNvSpPr/>
          <p:nvPr/>
        </p:nvSpPr>
        <p:spPr>
          <a:xfrm>
            <a:off x="4699000" y="4445000"/>
            <a:ext cx="1333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1万+</a:t>
            </a:r>
            <a:endParaRPr lang="en-US" sz="1100" dirty="0"/>
          </a:p>
          <a:p>
            <a:pPr marL="0" indent="0" algn="ctr">
              <a:lnSpc>
                <a:spcPct val="125000"/>
              </a:lnSpc>
              <a:spcBef>
                <a:spcPts val="600"/>
              </a:spcBef>
            </a:pPr>
            <a:r>
              <a:rPr lang="en-US" sz="12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多兴趣模拟虚拟用户</a:t>
            </a:r>
            <a:endParaRPr lang="en-US" sz="12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16"/>
          <p:cNvSpPr/>
          <p:nvPr/>
        </p:nvSpPr>
        <p:spPr>
          <a:xfrm>
            <a:off x="6223000" y="4318000"/>
            <a:ext cx="1460500" cy="1397000"/>
          </a:xfrm>
          <a:prstGeom prst="roundRect">
            <a:avLst>
              <a:gd name="adj" fmla="val 3636"/>
            </a:avLst>
          </a:prstGeom>
          <a:solidFill>
            <a:srgbClr val="FFFFFF">
              <a:alpha val="0"/>
            </a:srgbClr>
          </a:solidFill>
          <a:ln w="25400" cap="flat" cmpd="sng">
            <a:noFill/>
            <a:prstDash val="solid"/>
            <a:round/>
          </a:ln>
        </p:spPr>
        <p:txBody>
          <a:bodyPr vert="horz" wrap="square" lIns="0" tIns="0" rIns="0" bIns="0" rtlCol="0" anchor="ctr" anchorCtr="0"/>
          <a:lstStyle/>
          <a:p>
            <a:pPr algn="ctr">
              <a:defRPr/>
            </a:pPr>
            <a:endParaRPr/>
          </a:p>
        </p:txBody>
      </p:sp>
      <p:sp>
        <p:nvSpPr>
          <p:cNvPr id="30" name="AutoShape 17"/>
          <p:cNvSpPr/>
          <p:nvPr/>
        </p:nvSpPr>
        <p:spPr>
          <a:xfrm>
            <a:off x="6286500" y="4445000"/>
            <a:ext cx="1333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690万+</a:t>
            </a:r>
            <a:endParaRPr lang="en-US" sz="1100" dirty="0"/>
          </a:p>
          <a:p>
            <a:pPr marL="0" indent="0" algn="ctr">
              <a:lnSpc>
                <a:spcPct val="125000"/>
              </a:lnSpc>
              <a:spcBef>
                <a:spcPts val="600"/>
              </a:spcBef>
            </a:pPr>
            <a:r>
              <a:rPr lang="en-US" sz="12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30天周期用户行为日志</a:t>
            </a:r>
          </a:p>
        </p:txBody>
      </p:sp>
      <p:sp>
        <p:nvSpPr>
          <p:cNvPr id="31" name="AutoShape 18"/>
          <p:cNvSpPr/>
          <p:nvPr/>
        </p:nvSpPr>
        <p:spPr>
          <a:xfrm>
            <a:off x="8128000" y="1651000"/>
            <a:ext cx="3302000" cy="4572000"/>
          </a:xfrm>
          <a:prstGeom prst="roundRect">
            <a:avLst>
              <a:gd name="adj" fmla="val 3076"/>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a:p>
        </p:txBody>
      </p:sp>
      <p:pic>
        <p:nvPicPr>
          <p:cNvPr id="32"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0" y="1905000"/>
            <a:ext cx="304800" cy="304800"/>
          </a:xfrm>
          <a:prstGeom prst="rect">
            <a:avLst/>
          </a:prstGeom>
        </p:spPr>
      </p:pic>
      <p:sp>
        <p:nvSpPr>
          <p:cNvPr id="33" name="AutoShape 20"/>
          <p:cNvSpPr/>
          <p:nvPr/>
        </p:nvSpPr>
        <p:spPr>
          <a:xfrm>
            <a:off x="8826500" y="18796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七大核心功能模块</a:t>
            </a:r>
            <a:endParaRPr lang="en-US" sz="1100"/>
          </a:p>
        </p:txBody>
      </p:sp>
      <p:sp>
        <p:nvSpPr>
          <p:cNvPr id="34" name="AutoShape 21"/>
          <p:cNvSpPr/>
          <p:nvPr/>
        </p:nvSpPr>
        <p:spPr>
          <a:xfrm>
            <a:off x="8420100" y="2438400"/>
            <a:ext cx="2921000" cy="342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F1 建</a:t>
            </a:r>
            <a:r>
              <a:rPr lang="zh-CN" alt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视频</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库：</a:t>
            </a:r>
          </a:p>
          <a:p>
            <a:pPr marL="0" indent="0" algn="l">
              <a:lnSpc>
                <a:spcPct val="117000"/>
              </a:lnSpc>
              <a:defRPr/>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构建千万级视频元数据与画像库</a:t>
            </a:r>
            <a:endParaRPr lang="en-US" sz="1100" dirty="0"/>
          </a:p>
          <a:p>
            <a:pPr marL="0" indent="0" algn="l">
              <a:lnSpc>
                <a:spcPct val="117000"/>
              </a:lnSpc>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F2 </a:t>
            </a:r>
            <a:r>
              <a:rPr lang="en-US" sz="13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a:t>
            </a:r>
            <a:r>
              <a:rPr lang="zh-CN" alt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用户行为</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17000"/>
              </a:lnSpc>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生成真实、高维、可信的用户行为流</a:t>
            </a:r>
            <a:endPar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F3 </a:t>
            </a:r>
            <a:r>
              <a:rPr lang="zh-CN" altLang="en-US" sz="1300" b="1"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相似用户分析</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17000"/>
              </a:lnSpc>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基于向量检索快速发现相似用户群体</a:t>
            </a:r>
            <a:endPar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F4 </a:t>
            </a:r>
            <a:r>
              <a:rPr lang="zh-CN" alt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视频</a:t>
            </a:r>
            <a:r>
              <a:rPr lang="en-US" sz="13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17000"/>
              </a:lnSpc>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实现多策略融合的个性化视频分发</a:t>
            </a:r>
            <a:endPar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F5 </a:t>
            </a:r>
            <a:r>
              <a:rPr lang="en-US" sz="13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a:t>
            </a:r>
            <a:r>
              <a:rPr lang="zh-CN" alt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热度</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17000"/>
              </a:lnSpc>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基于时序特征预测视频未来热度走势</a:t>
            </a:r>
            <a:endPar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F6 </a:t>
            </a:r>
            <a:r>
              <a:rPr lang="zh-CN" alt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视频</a:t>
            </a:r>
            <a:r>
              <a:rPr lang="en-US" sz="13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聚类</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17000"/>
              </a:lnSpc>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挖掘视频间内在语义与行为关联</a:t>
            </a:r>
            <a:endPar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F7 </a:t>
            </a:r>
            <a:r>
              <a:rPr lang="zh-CN" alt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a:t>
            </a:r>
            <a:r>
              <a:rPr lang="zh-CN" altLang="en-US" sz="1300" b="1"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聚类</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17000"/>
              </a:lnSpc>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对用户进行精细化分层与价值分析</a:t>
            </a:r>
            <a:endPar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8"/>
          <p:cNvSpPr txBox="1"/>
          <p:nvPr/>
        </p:nvSpPr>
        <p:spPr>
          <a:xfrm>
            <a:off x="1281940"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0" y="1118495"/>
            <a:ext cx="12192000" cy="5034247"/>
          </a:xfrm>
          <a:custGeom>
            <a:avLst/>
            <a:gdLst>
              <a:gd name="connsiteX0" fmla="*/ 12192000 w 12192000"/>
              <a:gd name="connsiteY0" fmla="*/ 0 h 5034247"/>
              <a:gd name="connsiteX1" fmla="*/ 12192000 w 12192000"/>
              <a:gd name="connsiteY1" fmla="*/ 3944948 h 5034247"/>
              <a:gd name="connsiteX2" fmla="*/ 12129156 w 12192000"/>
              <a:gd name="connsiteY2" fmla="*/ 3898888 h 5034247"/>
              <a:gd name="connsiteX3" fmla="*/ 11449879 w 12192000"/>
              <a:gd name="connsiteY3" fmla="*/ 3663610 h 5034247"/>
              <a:gd name="connsiteX4" fmla="*/ 7394713 w 12192000"/>
              <a:gd name="connsiteY4" fmla="*/ 4578010 h 5034247"/>
              <a:gd name="connsiteX5" fmla="*/ 4373219 w 12192000"/>
              <a:gd name="connsiteY5" fmla="*/ 3107019 h 5034247"/>
              <a:gd name="connsiteX6" fmla="*/ 80211 w 12192000"/>
              <a:gd name="connsiteY6" fmla="*/ 5006526 h 5034247"/>
              <a:gd name="connsiteX7" fmla="*/ 0 w 12192000"/>
              <a:gd name="connsiteY7" fmla="*/ 5034247 h 5034247"/>
              <a:gd name="connsiteX8" fmla="*/ 0 w 12192000"/>
              <a:gd name="connsiteY8" fmla="*/ 2170361 h 5034247"/>
              <a:gd name="connsiteX9" fmla="*/ 37545 w 12192000"/>
              <a:gd name="connsiteY9" fmla="*/ 2198676 h 5034247"/>
              <a:gd name="connsiteX10" fmla="*/ 1411357 w 12192000"/>
              <a:gd name="connsiteY10" fmla="*/ 2669697 h 5034247"/>
              <a:gd name="connsiteX11" fmla="*/ 7215809 w 12192000"/>
              <a:gd name="connsiteY11" fmla="*/ 1158949 h 5034247"/>
              <a:gd name="connsiteX12" fmla="*/ 12115606 w 12192000"/>
              <a:gd name="connsiteY12" fmla="*/ 8230 h 5034247"/>
            </a:gdLst>
            <a:ahLst/>
            <a:cxnLst/>
            <a:rect l="l" t="t" r="r" b="b"/>
            <a:pathLst>
              <a:path w="12192000" h="5034247">
                <a:moveTo>
                  <a:pt x="12192000" y="0"/>
                </a:moveTo>
                <a:lnTo>
                  <a:pt x="12192000" y="3944948"/>
                </a:lnTo>
                <a:lnTo>
                  <a:pt x="12129156" y="3898888"/>
                </a:lnTo>
                <a:cubicBezTo>
                  <a:pt x="11926336" y="3762795"/>
                  <a:pt x="11700842" y="3665267"/>
                  <a:pt x="11449879" y="3663610"/>
                </a:cubicBezTo>
                <a:cubicBezTo>
                  <a:pt x="10446027" y="3656984"/>
                  <a:pt x="8574156" y="4670775"/>
                  <a:pt x="7394713" y="4578010"/>
                </a:cubicBezTo>
                <a:cubicBezTo>
                  <a:pt x="6215271" y="4485245"/>
                  <a:pt x="5734880" y="3014254"/>
                  <a:pt x="4373219" y="3107019"/>
                </a:cubicBezTo>
                <a:cubicBezTo>
                  <a:pt x="3309421" y="3179492"/>
                  <a:pt x="1339712" y="4544100"/>
                  <a:pt x="80211" y="5006526"/>
                </a:cubicBezTo>
                <a:lnTo>
                  <a:pt x="0" y="5034247"/>
                </a:lnTo>
                <a:lnTo>
                  <a:pt x="0" y="2170361"/>
                </a:lnTo>
                <a:lnTo>
                  <a:pt x="37545" y="2198676"/>
                </a:lnTo>
                <a:cubicBezTo>
                  <a:pt x="422569" y="2464237"/>
                  <a:pt x="880856" y="2688333"/>
                  <a:pt x="1411357" y="2669697"/>
                </a:cubicBezTo>
                <a:cubicBezTo>
                  <a:pt x="2826026" y="2620001"/>
                  <a:pt x="5174975" y="1586332"/>
                  <a:pt x="7215809" y="1158949"/>
                </a:cubicBezTo>
                <a:cubicBezTo>
                  <a:pt x="8618883" y="865123"/>
                  <a:pt x="10648329" y="204870"/>
                  <a:pt x="12115606" y="8230"/>
                </a:cubicBezTo>
                <a:close/>
              </a:path>
            </a:pathLst>
          </a:custGeom>
          <a:solidFill>
            <a:schemeClr val="accent1">
              <a:alpha val="6000"/>
            </a:schemeClr>
          </a:solidFill>
          <a:ln w="12700" cap="sq">
            <a:noFill/>
            <a:miter/>
          </a:ln>
        </p:spPr>
        <p:txBody>
          <a:bodyPr vert="horz" wrap="square" lIns="0" tIns="45720" rIns="91440" bIns="45720" rtlCol="0" anchor="ctr"/>
          <a:lstStyle/>
          <a:p>
            <a:pPr algn="ctr">
              <a:lnSpc>
                <a:spcPct val="110000"/>
              </a:lnSpc>
            </a:pPr>
            <a:endParaRPr kumimoji="1" lang="zh-CN" altLang="en-US" dirty="0"/>
          </a:p>
        </p:txBody>
      </p:sp>
      <p:sp>
        <p:nvSpPr>
          <p:cNvPr id="20"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F1	</a:t>
            </a:r>
            <a:r>
              <a:rPr kumimoji="1" lang="en-US" altLang="zh-CN" sz="2800" b="1" dirty="0" err="1">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构建视频信息库</a:t>
            </a:r>
            <a:endParaRPr kumimoji="1" lang="zh-CN" altLang="en-US" b="1" dirty="0">
              <a:latin typeface="微软雅黑" panose="020B0503020204020204" pitchFamily="34" charset="-122"/>
              <a:ea typeface="微软雅黑" panose="020B0503020204020204" pitchFamily="34" charset="-122"/>
            </a:endParaRPr>
          </a:p>
        </p:txBody>
      </p:sp>
      <p:sp>
        <p:nvSpPr>
          <p:cNvPr id="21"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 name="AutoShape 11"/>
          <p:cNvSpPr/>
          <p:nvPr>
            <p:custDataLst>
              <p:tags r:id="rId1"/>
            </p:custDataLst>
          </p:nvPr>
        </p:nvSpPr>
        <p:spPr>
          <a:xfrm>
            <a:off x="5222689" y="344260"/>
            <a:ext cx="6387863" cy="1657037"/>
          </a:xfrm>
          <a:prstGeom prst="roundRect">
            <a:avLst>
              <a:gd name="adj" fmla="val 0"/>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dirty="0">
              <a:solidFill>
                <a:schemeClr val="tx1">
                  <a:lumMod val="95000"/>
                  <a:lumOff val="5000"/>
                </a:schemeClr>
              </a:solidFill>
            </a:endParaRPr>
          </a:p>
        </p:txBody>
      </p:sp>
      <p:pic>
        <p:nvPicPr>
          <p:cNvPr id="30" name="Picture 12"/>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67879" y="452210"/>
            <a:ext cx="381635" cy="381635"/>
          </a:xfrm>
          <a:prstGeom prst="rect">
            <a:avLst/>
          </a:prstGeom>
        </p:spPr>
      </p:pic>
      <p:sp>
        <p:nvSpPr>
          <p:cNvPr id="31" name="AutoShape 13"/>
          <p:cNvSpPr/>
          <p:nvPr>
            <p:custDataLst>
              <p:tags r:id="rId3"/>
            </p:custDataLst>
          </p:nvPr>
        </p:nvSpPr>
        <p:spPr>
          <a:xfrm>
            <a:off x="6139379" y="428715"/>
            <a:ext cx="3394710" cy="41783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数据处理流程</a:t>
            </a:r>
            <a:endParaRPr lang="en-US" sz="1100" dirty="0"/>
          </a:p>
        </p:txBody>
      </p:sp>
      <p:sp>
        <p:nvSpPr>
          <p:cNvPr id="32" name="AutoShape 14"/>
          <p:cNvSpPr/>
          <p:nvPr>
            <p:custDataLst>
              <p:tags r:id="rId4"/>
            </p:custDataLst>
          </p:nvPr>
        </p:nvSpPr>
        <p:spPr>
          <a:xfrm>
            <a:off x="5506477" y="682941"/>
            <a:ext cx="6187713" cy="131191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高效抽样：</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采用流式读取结合“</a:t>
            </a:r>
            <a:r>
              <a:rPr lang="en-US" sz="1400" i="0" u="none" strike="noStrike" dirty="0">
                <a:solidFill>
                  <a:schemeClr val="tx1">
                    <a:lumMod val="95000"/>
                    <a:lumOff val="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蓄水池抽样</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”算法，精准抽取10万条样本。</a:t>
            </a:r>
            <a:endParaRPr lang="en-US" sz="1400" dirty="0"/>
          </a:p>
          <a:p>
            <a:pPr marL="0" indent="0" algn="l">
              <a:lnSpc>
                <a:spcPct val="150000"/>
              </a:lnSpc>
            </a:pP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语言清洗：</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过滤非英语/</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西班牙语的视频，保证数据语言一致性</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50000"/>
              </a:lnSpc>
            </a:pP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标签映射：</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从文案/标签提取用户偏好，并自动映射至20个预定义兴趣领域。</a:t>
            </a:r>
          </a:p>
        </p:txBody>
      </p:sp>
      <p:pic>
        <p:nvPicPr>
          <p:cNvPr id="34" name="图片 3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46430" y="1118495"/>
            <a:ext cx="4224537" cy="5148082"/>
          </a:xfrm>
          <a:prstGeom prst="rect">
            <a:avLst/>
          </a:prstGeom>
        </p:spPr>
      </p:pic>
      <p:sp>
        <p:nvSpPr>
          <p:cNvPr id="39" name="AutoShape 15"/>
          <p:cNvSpPr/>
          <p:nvPr>
            <p:custDataLst>
              <p:tags r:id="rId5"/>
            </p:custDataLst>
          </p:nvPr>
        </p:nvSpPr>
        <p:spPr>
          <a:xfrm>
            <a:off x="5206840" y="2232029"/>
            <a:ext cx="6387863" cy="3127372"/>
          </a:xfrm>
          <a:prstGeom prst="roundRect">
            <a:avLst>
              <a:gd name="adj" fmla="val 0"/>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a:p>
        </p:txBody>
      </p:sp>
      <p:sp>
        <p:nvSpPr>
          <p:cNvPr id="40" name="AutoShape 17"/>
          <p:cNvSpPr/>
          <p:nvPr>
            <p:custDataLst>
              <p:tags r:id="rId6"/>
            </p:custDataLst>
          </p:nvPr>
        </p:nvSpPr>
        <p:spPr>
          <a:xfrm>
            <a:off x="6147977" y="2360817"/>
            <a:ext cx="3516809" cy="312732"/>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000" b="1" dirty="0" err="1">
                <a:solidFill>
                  <a:srgbClr val="4A90E2"/>
                </a:solidFill>
                <a:latin typeface="Noto Sans SC" panose="020B0200000000000000" charset="-122"/>
                <a:ea typeface="Noto Sans SC" panose="020B0200000000000000" charset="-122"/>
                <a:cs typeface="Noto Sans SC" panose="020B0200000000000000" charset="-122"/>
              </a:rPr>
              <a:t>热度初始化</a:t>
            </a:r>
            <a:endParaRPr lang="en-US" sz="2000" b="1" dirty="0">
              <a:solidFill>
                <a:srgbClr val="4A90E2"/>
              </a:solidFill>
              <a:latin typeface="Noto Sans SC" panose="020B0200000000000000" charset="-122"/>
              <a:ea typeface="Noto Sans SC" panose="020B0200000000000000" charset="-122"/>
              <a:cs typeface="Noto Sans SC" panose="020B0200000000000000" charset="-122"/>
            </a:endParaRPr>
          </a:p>
        </p:txBody>
      </p:sp>
      <p:sp>
        <p:nvSpPr>
          <p:cNvPr id="42" name="文本框 41"/>
          <p:cNvSpPr txBox="1"/>
          <p:nvPr/>
        </p:nvSpPr>
        <p:spPr>
          <a:xfrm>
            <a:off x="5608571" y="2689176"/>
            <a:ext cx="5707288" cy="694544"/>
          </a:xfrm>
          <a:prstGeom prst="rect">
            <a:avLst/>
          </a:prstGeom>
          <a:noFill/>
        </p:spPr>
        <p:txBody>
          <a:bodyPr wrap="square" rtlCol="0">
            <a:noAutofit/>
          </a:bodyPr>
          <a:lstStyle/>
          <a:p>
            <a:pPr algn="l">
              <a:lnSpc>
                <a:spcPct val="150000"/>
              </a:lnSpc>
              <a:buSzTx/>
              <a:defRPr/>
            </a:pPr>
            <a:r>
              <a:rPr lang="en-US" sz="1400" dirty="0">
                <a:solidFill>
                  <a:schemeClr val="tx1"/>
                </a:solidFill>
                <a:latin typeface="Noto Sans SC" panose="020B0200000000000000" charset="-122"/>
                <a:ea typeface="Noto Sans SC" panose="020B0200000000000000" charset="-122"/>
                <a:cs typeface="Noto Sans SC" panose="020B0200000000000000" charset="-122"/>
              </a:rPr>
              <a:t>        为了在F2用户行为模拟中给每条视频提供一个合理初始热度作为模型起点数据，我们定义初始热度 H0 </a:t>
            </a:r>
            <a:r>
              <a:rPr lang="en-US" sz="1400" dirty="0" err="1">
                <a:solidFill>
                  <a:schemeClr val="tx1"/>
                </a:solidFill>
                <a:latin typeface="Noto Sans SC" panose="020B0200000000000000" charset="-122"/>
                <a:ea typeface="Noto Sans SC" panose="020B0200000000000000" charset="-122"/>
                <a:cs typeface="Noto Sans SC" panose="020B0200000000000000" charset="-122"/>
              </a:rPr>
              <a:t>如下</a:t>
            </a:r>
            <a:r>
              <a:rPr lang="en-US" sz="1400" dirty="0">
                <a:solidFill>
                  <a:schemeClr val="tx1"/>
                </a:solidFill>
                <a:latin typeface="Noto Sans SC" panose="020B0200000000000000" charset="-122"/>
                <a:ea typeface="Noto Sans SC" panose="020B0200000000000000" charset="-122"/>
                <a:cs typeface="Noto Sans SC" panose="020B0200000000000000" charset="-122"/>
              </a:rPr>
              <a:t>:</a:t>
            </a:r>
          </a:p>
        </p:txBody>
      </p:sp>
      <p:pic>
        <p:nvPicPr>
          <p:cNvPr id="43" name="Picture 8"/>
          <p:cNvPicPr>
            <a:picLocks noChangeAspect="1"/>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567879" y="2297561"/>
            <a:ext cx="432435" cy="400685"/>
          </a:xfrm>
          <a:prstGeom prst="rect">
            <a:avLst/>
          </a:prstGeom>
        </p:spPr>
      </p:pic>
      <p:pic>
        <p:nvPicPr>
          <p:cNvPr id="45" name="图片 44"/>
          <p:cNvPicPr>
            <a:picLocks noChangeAspect="1"/>
          </p:cNvPicPr>
          <p:nvPr/>
        </p:nvPicPr>
        <p:blipFill>
          <a:blip r:embed="rId14"/>
          <a:stretch>
            <a:fillRect/>
          </a:stretch>
        </p:blipFill>
        <p:spPr>
          <a:xfrm>
            <a:off x="5746750" y="3439599"/>
            <a:ext cx="5055390" cy="1856301"/>
          </a:xfrm>
          <a:prstGeom prst="rect">
            <a:avLst/>
          </a:prstGeom>
        </p:spPr>
      </p:pic>
      <p:sp>
        <p:nvSpPr>
          <p:cNvPr id="54" name="AutoShape 15"/>
          <p:cNvSpPr/>
          <p:nvPr>
            <p:custDataLst>
              <p:tags r:id="rId8"/>
            </p:custDataLst>
          </p:nvPr>
        </p:nvSpPr>
        <p:spPr>
          <a:xfrm>
            <a:off x="5190991" y="5526632"/>
            <a:ext cx="6387863" cy="856842"/>
          </a:xfrm>
          <a:prstGeom prst="roundRect">
            <a:avLst>
              <a:gd name="adj" fmla="val 0"/>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a:p>
        </p:txBody>
      </p:sp>
      <p:sp>
        <p:nvSpPr>
          <p:cNvPr id="58" name="AutoShape 19"/>
          <p:cNvSpPr/>
          <p:nvPr>
            <p:custDataLst>
              <p:tags r:id="rId9"/>
            </p:custDataLst>
          </p:nvPr>
        </p:nvSpPr>
        <p:spPr>
          <a:xfrm>
            <a:off x="5876519" y="5590133"/>
            <a:ext cx="4589247" cy="729839"/>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Output :  </a:t>
            </a:r>
            <a:r>
              <a:rPr lang="en-US" sz="16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tiktok_meta_100k.csv</a:t>
            </a:r>
            <a:endParaRPr lang="en-US" sz="1100" dirty="0"/>
          </a:p>
          <a:p>
            <a:pPr marL="0" indent="0" algn="ctr">
              <a:lnSpc>
                <a:spcPct val="125000"/>
              </a:lnSpc>
            </a:pP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结构化数据</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 100,000 Rows × 16 Columns | </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核心库基础</a:t>
            </a:r>
            <a:endPar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925830" y="223199"/>
            <a:ext cx="10829762" cy="504000"/>
          </a:xfrm>
          <a:prstGeom prst="rect">
            <a:avLst/>
          </a:prstGeom>
          <a:noFill/>
          <a:ln cap="sq">
            <a:noFill/>
          </a:ln>
        </p:spPr>
        <p:txBody>
          <a:bodyPr vert="horz" wrap="square" lIns="0" tIns="0" rIns="0" bIns="0" rtlCol="0" anchor="ctr"/>
          <a:lstStyle/>
          <a:p>
            <a:pPr>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F1	</a:t>
            </a:r>
            <a:r>
              <a:rPr kumimoji="1" lang="en-US" altLang="zh-CN" sz="2800" b="1" dirty="0" err="1">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构建视频信息库</a:t>
            </a:r>
            <a:endParaRPr kumimoji="1" lang="zh-CN" altLang="en-US" sz="2800" b="1" dirty="0">
              <a:latin typeface="微软雅黑" panose="020B0503020204020204" pitchFamily="34" charset="-122"/>
              <a:ea typeface="微软雅黑" panose="020B0503020204020204" pitchFamily="34" charset="-122"/>
            </a:endParaRPr>
          </a:p>
        </p:txBody>
      </p:sp>
      <p:sp>
        <p:nvSpPr>
          <p:cNvPr id="23"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41" name="图片 40"/>
          <p:cNvPicPr>
            <a:picLocks noChangeAspect="1"/>
          </p:cNvPicPr>
          <p:nvPr/>
        </p:nvPicPr>
        <p:blipFill>
          <a:blip r:embed="rId4"/>
          <a:stretch>
            <a:fillRect/>
          </a:stretch>
        </p:blipFill>
        <p:spPr>
          <a:xfrm>
            <a:off x="473573" y="954531"/>
            <a:ext cx="6019937" cy="3655569"/>
          </a:xfrm>
          <a:prstGeom prst="rect">
            <a:avLst/>
          </a:prstGeom>
        </p:spPr>
      </p:pic>
      <p:pic>
        <p:nvPicPr>
          <p:cNvPr id="43" name="图片 42"/>
          <p:cNvPicPr>
            <a:picLocks noChangeAspect="1"/>
          </p:cNvPicPr>
          <p:nvPr/>
        </p:nvPicPr>
        <p:blipFill>
          <a:blip r:embed="rId5"/>
          <a:stretch>
            <a:fillRect/>
          </a:stretch>
        </p:blipFill>
        <p:spPr>
          <a:xfrm>
            <a:off x="6542030" y="3326312"/>
            <a:ext cx="5176397" cy="3188111"/>
          </a:xfrm>
          <a:prstGeom prst="rect">
            <a:avLst/>
          </a:prstGeom>
        </p:spPr>
      </p:pic>
      <p:sp>
        <p:nvSpPr>
          <p:cNvPr id="44" name="矩形: 圆角 43"/>
          <p:cNvSpPr/>
          <p:nvPr/>
        </p:nvSpPr>
        <p:spPr>
          <a:xfrm>
            <a:off x="6826775" y="1261885"/>
            <a:ext cx="4416245" cy="1720851"/>
          </a:xfrm>
          <a:prstGeom prst="roundRect">
            <a:avLst>
              <a:gd name="adj" fmla="val 5828"/>
            </a:avLst>
          </a:prstGeom>
          <a:solidFill>
            <a:schemeClr val="bg1"/>
          </a:solidFill>
          <a:ln w="1587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p:cNvSpPr/>
          <p:nvPr/>
        </p:nvSpPr>
        <p:spPr>
          <a:xfrm>
            <a:off x="717550" y="4928872"/>
            <a:ext cx="5607050" cy="1585551"/>
          </a:xfrm>
          <a:prstGeom prst="roundRect">
            <a:avLst>
              <a:gd name="adj" fmla="val 5828"/>
            </a:avLst>
          </a:prstGeom>
          <a:solidFill>
            <a:schemeClr val="bg1"/>
          </a:solidFill>
          <a:ln w="1587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custDataLst>
              <p:tags r:id="rId1"/>
            </p:custDataLst>
          </p:nvPr>
        </p:nvSpPr>
        <p:spPr>
          <a:xfrm>
            <a:off x="7042149" y="1326021"/>
            <a:ext cx="4067711" cy="1656715"/>
          </a:xfrm>
          <a:prstGeom prst="rect">
            <a:avLst/>
          </a:prstGeom>
          <a:noFill/>
        </p:spPr>
        <p:txBody>
          <a:bodyPr wrap="square" rtlCol="0">
            <a:noAutofit/>
          </a:bodyPr>
          <a:lstStyle/>
          <a:p>
            <a:pPr algn="l">
              <a:lnSpc>
                <a:spcPct val="150000"/>
              </a:lnSpc>
              <a:buSzTx/>
              <a:defRPr/>
            </a:pPr>
            <a:r>
              <a:rPr lang="zh-CN" altLang="en-US" sz="1600" dirty="0">
                <a:latin typeface="Noto Sans SC" panose="020B0200000000000000" charset="-122"/>
                <a:ea typeface="Noto Sans SC" panose="020B0200000000000000" charset="-122"/>
                <a:cs typeface="Noto Sans SC" panose="020B0200000000000000" charset="-122"/>
              </a:rPr>
              <a:t>页面</a:t>
            </a: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展示 10 万条视频的元数据列表与整体领域分布统计，支持多维度筛选。</a:t>
            </a:r>
          </a:p>
          <a:p>
            <a:pPr algn="l">
              <a:lnSpc>
                <a:spcPct val="150000"/>
              </a:lnSpc>
              <a:buSzTx/>
              <a:defRPr/>
            </a:pP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这是视频库的基础管理界面，能直观看到全量视频数据和领域分布。</a:t>
            </a:r>
            <a:endParaRPr lang="zh-CN" altLang="en-US" sz="1200" dirty="0">
              <a:solidFill>
                <a:schemeClr val="tx1"/>
              </a:solidFill>
              <a:latin typeface="Noto Sans SC" panose="020B0200000000000000" charset="-122"/>
              <a:ea typeface="Noto Sans SC" panose="020B0200000000000000" charset="-122"/>
              <a:cs typeface="Noto Sans SC" panose="020B0200000000000000" charset="-122"/>
            </a:endParaRPr>
          </a:p>
          <a:p>
            <a:pPr algn="l">
              <a:lnSpc>
                <a:spcPct val="125000"/>
              </a:lnSpc>
              <a:buSzTx/>
              <a:defRPr/>
            </a:pPr>
            <a:endParaRPr lang="zh-CN" altLang="en-US" sz="1200" dirty="0">
              <a:solidFill>
                <a:schemeClr val="tx1"/>
              </a:solidFill>
              <a:latin typeface="Noto Sans SC" panose="020B0200000000000000" charset="-122"/>
              <a:ea typeface="Noto Sans SC" panose="020B0200000000000000" charset="-122"/>
              <a:cs typeface="Noto Sans SC" panose="020B0200000000000000" charset="-122"/>
            </a:endParaRPr>
          </a:p>
        </p:txBody>
      </p:sp>
      <p:sp>
        <p:nvSpPr>
          <p:cNvPr id="48" name="文本框 47"/>
          <p:cNvSpPr txBox="1"/>
          <p:nvPr>
            <p:custDataLst>
              <p:tags r:id="rId2"/>
            </p:custDataLst>
          </p:nvPr>
        </p:nvSpPr>
        <p:spPr>
          <a:xfrm>
            <a:off x="923538" y="5080635"/>
            <a:ext cx="5172462" cy="1036320"/>
          </a:xfrm>
          <a:prstGeom prst="rect">
            <a:avLst/>
          </a:prstGeom>
          <a:noFill/>
        </p:spPr>
        <p:txBody>
          <a:bodyPr wrap="square" rtlCol="0">
            <a:noAutofit/>
          </a:bodyPr>
          <a:lstStyle/>
          <a:p>
            <a:pPr algn="l">
              <a:lnSpc>
                <a:spcPct val="125000"/>
              </a:lnSpc>
              <a:buSzTx/>
              <a:defRPr/>
            </a:pPr>
            <a:r>
              <a:rPr lang="zh-CN" altLang="en-US" sz="1600" dirty="0">
                <a:solidFill>
                  <a:schemeClr val="tx1"/>
                </a:solidFill>
                <a:latin typeface="Noto Sans SC" panose="020B0200000000000000" charset="-122"/>
                <a:ea typeface="Noto Sans SC" panose="020B0200000000000000" charset="-122"/>
                <a:cs typeface="Noto Sans SC" panose="020B0200000000000000" charset="-122"/>
                <a:sym typeface="+mn-ea"/>
              </a:rPr>
              <a:t>输入视频 </a:t>
            </a:r>
            <a:r>
              <a:rPr lang="en-US" altLang="zh-CN" sz="1600" dirty="0">
                <a:solidFill>
                  <a:schemeClr val="tx1"/>
                </a:solidFill>
                <a:latin typeface="Noto Sans SC" panose="020B0200000000000000" charset="-122"/>
                <a:ea typeface="Noto Sans SC" panose="020B0200000000000000" charset="-122"/>
                <a:cs typeface="Noto Sans SC" panose="020B0200000000000000" charset="-122"/>
                <a:sym typeface="+mn-ea"/>
              </a:rPr>
              <a:t>ID </a:t>
            </a:r>
            <a:r>
              <a:rPr lang="zh-CN" altLang="en-US" sz="1600" dirty="0">
                <a:solidFill>
                  <a:schemeClr val="tx1"/>
                </a:solidFill>
                <a:latin typeface="Noto Sans SC" panose="020B0200000000000000" charset="-122"/>
                <a:ea typeface="Noto Sans SC" panose="020B0200000000000000" charset="-122"/>
                <a:cs typeface="Noto Sans SC" panose="020B0200000000000000" charset="-122"/>
                <a:sym typeface="+mn-ea"/>
              </a:rPr>
              <a:t>后，</a:t>
            </a:r>
            <a:r>
              <a:rPr lang="zh-CN" altLang="en-US" sz="1600" dirty="0">
                <a:latin typeface="Noto Sans SC" panose="020B0200000000000000" charset="-122"/>
                <a:ea typeface="Noto Sans SC" panose="020B0200000000000000" charset="-122"/>
                <a:cs typeface="Noto Sans SC" panose="020B0200000000000000" charset="-122"/>
                <a:sym typeface="+mn-ea"/>
              </a:rPr>
              <a:t>可以</a:t>
            </a:r>
            <a:r>
              <a:rPr lang="zh-CN" altLang="en-US" sz="1600" dirty="0">
                <a:solidFill>
                  <a:schemeClr val="tx1"/>
                </a:solidFill>
                <a:latin typeface="Noto Sans SC" panose="020B0200000000000000" charset="-122"/>
                <a:ea typeface="Noto Sans SC" panose="020B0200000000000000" charset="-122"/>
                <a:cs typeface="Noto Sans SC" panose="020B0200000000000000" charset="-122"/>
                <a:sym typeface="+mn-ea"/>
              </a:rPr>
              <a:t>展示单条视频的元数据与对应领域分布柱状图。</a:t>
            </a:r>
            <a:endParaRPr lang="zh-CN" altLang="en-US" sz="1600" dirty="0">
              <a:solidFill>
                <a:schemeClr val="tx1"/>
              </a:solidFill>
              <a:latin typeface="Noto Sans SC" panose="020B0200000000000000" charset="-122"/>
              <a:ea typeface="Noto Sans SC" panose="020B0200000000000000" charset="-122"/>
              <a:cs typeface="Noto Sans SC" panose="020B0200000000000000" charset="-122"/>
            </a:endParaRPr>
          </a:p>
          <a:p>
            <a:pPr algn="l">
              <a:lnSpc>
                <a:spcPct val="125000"/>
              </a:lnSpc>
              <a:buSzTx/>
              <a:defRPr/>
            </a:pPr>
            <a:r>
              <a:rPr lang="zh-CN" altLang="en-US" sz="1600" dirty="0">
                <a:solidFill>
                  <a:schemeClr val="tx1"/>
                </a:solidFill>
                <a:latin typeface="Noto Sans SC" panose="020B0200000000000000" charset="-122"/>
                <a:ea typeface="Noto Sans SC" panose="020B0200000000000000" charset="-122"/>
                <a:cs typeface="Noto Sans SC" panose="020B0200000000000000" charset="-122"/>
                <a:sym typeface="+mn-ea"/>
              </a:rPr>
              <a:t>这是单视频的详情视图，方便快速定位并查看特定视频的属性特征。</a:t>
            </a:r>
            <a:endParaRPr lang="zh-CN" altLang="en-US" sz="1600" b="1" dirty="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2" name="箭头: 下 1"/>
          <p:cNvSpPr/>
          <p:nvPr/>
        </p:nvSpPr>
        <p:spPr>
          <a:xfrm flipV="1">
            <a:off x="8744745" y="2982734"/>
            <a:ext cx="591760" cy="407429"/>
          </a:xfrm>
          <a:prstGeom prst="downArrow">
            <a:avLst/>
          </a:prstGeom>
          <a:gradFill flip="none" rotWithShape="1">
            <a:gsLst>
              <a:gs pos="100000">
                <a:schemeClr val="accent1">
                  <a:tint val="66000"/>
                  <a:satMod val="160000"/>
                </a:schemeClr>
              </a:gs>
              <a:gs pos="50000">
                <a:schemeClr val="accent1">
                  <a:tint val="44500"/>
                  <a:satMod val="160000"/>
                </a:schemeClr>
              </a:gs>
              <a:gs pos="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箭头: 下 3"/>
          <p:cNvSpPr/>
          <p:nvPr/>
        </p:nvSpPr>
        <p:spPr>
          <a:xfrm flipH="1">
            <a:off x="3240088" y="4578174"/>
            <a:ext cx="553775" cy="407429"/>
          </a:xfrm>
          <a:prstGeom prst="downArrow">
            <a:avLst/>
          </a:prstGeom>
          <a:gradFill flip="none" rotWithShape="1">
            <a:gsLst>
              <a:gs pos="100000">
                <a:schemeClr val="accent1">
                  <a:tint val="66000"/>
                  <a:satMod val="160000"/>
                </a:schemeClr>
              </a:gs>
              <a:gs pos="50000">
                <a:schemeClr val="accent1">
                  <a:tint val="44500"/>
                  <a:satMod val="160000"/>
                </a:schemeClr>
              </a:gs>
              <a:gs pos="0">
                <a:schemeClr val="accent1">
                  <a:tint val="23500"/>
                  <a:satMod val="1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F2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用户行为模拟</a:t>
            </a:r>
            <a:endParaRPr kumimoji="1" lang="zh-CN" altLang="en-US" b="1" dirty="0">
              <a:latin typeface="微软雅黑" panose="020B0503020204020204" pitchFamily="34" charset="-122"/>
              <a:ea typeface="微软雅黑" panose="020B0503020204020204" pitchFamily="34" charset="-122"/>
            </a:endParaRPr>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6675" y="1382858"/>
            <a:ext cx="5301001" cy="4459691"/>
          </a:xfrm>
          <a:prstGeom prst="rect">
            <a:avLst/>
          </a:prstGeom>
        </p:spPr>
      </p:pic>
      <p:sp>
        <p:nvSpPr>
          <p:cNvPr id="18" name="矩形: 圆角 2"/>
          <p:cNvSpPr/>
          <p:nvPr>
            <p:custDataLst>
              <p:tags r:id="rId1"/>
            </p:custDataLst>
          </p:nvPr>
        </p:nvSpPr>
        <p:spPr>
          <a:xfrm>
            <a:off x="5876925" y="727199"/>
            <a:ext cx="5763830" cy="5362451"/>
          </a:xfrm>
          <a:prstGeom prst="roundRect">
            <a:avLst>
              <a:gd name="adj" fmla="val 3171"/>
            </a:avLst>
          </a:prstGeom>
          <a:solidFill>
            <a:schemeClr val="bg2">
              <a:alpha val="5000"/>
            </a:schemeClr>
          </a:solidFill>
          <a:ln w="15875">
            <a:solidFill>
              <a:schemeClr val="accent1">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AutoShape 5"/>
          <p:cNvSpPr/>
          <p:nvPr/>
        </p:nvSpPr>
        <p:spPr>
          <a:xfrm>
            <a:off x="6559550" y="862158"/>
            <a:ext cx="370713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模拟目标</a:t>
            </a:r>
            <a:endParaRPr lang="en-US" dirty="0"/>
          </a:p>
        </p:txBody>
      </p:sp>
      <p:sp>
        <p:nvSpPr>
          <p:cNvPr id="20" name="AutoShape 6"/>
          <p:cNvSpPr/>
          <p:nvPr/>
        </p:nvSpPr>
        <p:spPr>
          <a:xfrm>
            <a:off x="6139101" y="1252883"/>
            <a:ext cx="5335349" cy="828971"/>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在缺乏真实用户行为数据的冷启动阶段，生成真实、多样的用户交互数据</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dirty="0"/>
          </a:p>
        </p:txBody>
      </p:sp>
      <p:pic>
        <p:nvPicPr>
          <p:cNvPr id="2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3355" y="918673"/>
            <a:ext cx="392380" cy="304800"/>
          </a:xfrm>
          <a:prstGeom prst="rect">
            <a:avLst/>
          </a:prstGeom>
        </p:spPr>
      </p:pic>
      <p:pic>
        <p:nvPicPr>
          <p:cNvPr id="29"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52565" y="2310359"/>
            <a:ext cx="308560" cy="304800"/>
          </a:xfrm>
          <a:prstGeom prst="rect">
            <a:avLst/>
          </a:prstGeom>
        </p:spPr>
      </p:pic>
      <p:sp>
        <p:nvSpPr>
          <p:cNvPr id="30" name="AutoShape 13"/>
          <p:cNvSpPr/>
          <p:nvPr/>
        </p:nvSpPr>
        <p:spPr>
          <a:xfrm>
            <a:off x="6592828" y="2272259"/>
            <a:ext cx="345499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关键参数与模拟流程</a:t>
            </a:r>
            <a:endParaRPr lang="en-US" sz="1100" dirty="0"/>
          </a:p>
        </p:txBody>
      </p:sp>
      <mc:AlternateContent xmlns:mc="http://schemas.openxmlformats.org/markup-compatibility/2006" xmlns:a14="http://schemas.microsoft.com/office/drawing/2010/main">
        <mc:Choice Requires="a14">
          <p:sp>
            <p:nvSpPr>
              <p:cNvPr id="31" name="AutoShape 14"/>
              <p:cNvSpPr/>
              <p:nvPr/>
            </p:nvSpPr>
            <p:spPr>
              <a:xfrm>
                <a:off x="6207745" y="2678659"/>
                <a:ext cx="5433009" cy="1960392"/>
              </a:xfrm>
              <a:prstGeom prst="rect">
                <a:avLst/>
              </a:prstGeom>
              <a:noFill/>
              <a:ln w="12700" cap="flat" cmpd="sng">
                <a:noFill/>
                <a:prstDash val="solid"/>
                <a:round/>
              </a:ln>
            </p:spPr>
            <p:txBody>
              <a:bodyPr vert="horz" wrap="square" lIns="0" tIns="0" rIns="0" bIns="0" rtlCol="0" anchor="ctr" anchorCtr="0"/>
              <a:lstStyle/>
              <a:p>
                <a:pPr>
                  <a:lnSpc>
                    <a:spcPct val="150000"/>
                  </a:lnSpc>
                  <a:defRPr/>
                </a:pP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用户热度敏感性</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14:m>
                  <m:oMath xmlns:m="http://schemas.openxmlformats.org/officeDocument/2006/math">
                    <m:sSub>
                      <m:sSubPr>
                        <m:ctrlPr>
                          <a:rPr lang="en-US" altLang="zh-CN" sz="1600" b="1" i="1" u="none" strike="noStrike" dirty="0" smtClean="0">
                            <a:solidFill>
                              <a:srgbClr val="333333"/>
                            </a:solidFill>
                            <a:latin typeface="Cambria Math" panose="02040503050406030204" pitchFamily="18" charset="0"/>
                            <a:ea typeface="Noto Sans SC" panose="020B0200000000000000" charset="-122"/>
                            <a:sym typeface="Noto Sans SC" panose="020B0200000000000000" charset="-122"/>
                          </a:rPr>
                        </m:ctrlPr>
                      </m:sSubPr>
                      <m:e>
                        <m:r>
                          <a:rPr lang="en-US" altLang="zh-CN" sz="1600" b="1" i="1" dirty="0">
                            <a:solidFill>
                              <a:srgbClr val="33333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𝜸</m:t>
                        </m:r>
                      </m:e>
                      <m:sub>
                        <m:r>
                          <a:rPr lang="en-US" altLang="zh-CN" sz="1600" b="1" i="1" dirty="0">
                            <a:solidFill>
                              <a:srgbClr val="33333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𝒖</m:t>
                        </m:r>
                      </m:sub>
                    </m:sSub>
                  </m:oMath>
                </a14:m>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dirty="0"/>
              </a:p>
              <a:p>
                <a:pPr>
                  <a:lnSpc>
                    <a:spcPct val="150000"/>
                  </a:lnSpc>
                  <a:defRPr/>
                </a:pP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服从</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[0.3, 1.2] </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分布，控制</a:t>
                </a:r>
                <a:r>
                  <a:rPr lang="zh-CN" altLang="en-US" sz="1600"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对热门视频的</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偏好，避免同质化</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a:lnSpc>
                    <a:spcPct val="150000"/>
                  </a:lnSpc>
                  <a:defRPr/>
                </a:pPr>
                <a:r>
                  <a:rPr lang="en-US" altLang="zh-CN" sz="1600" b="1"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30天仿真模拟</a:t>
                </a:r>
                <a:endParaRPr lang="en-US" altLang="zh-CN" sz="1600" dirty="0"/>
              </a:p>
              <a:p>
                <a:pPr>
                  <a:lnSpc>
                    <a:spcPct val="150000"/>
                  </a:lnSpc>
                </a:pP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周期：30天  |  每轮：20视频+3赞</a:t>
                </a:r>
                <a:b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机制：点赞反哺画像，模拟动态演变</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mc:Choice>
        <mc:Fallback xmlns="">
          <p:sp>
            <p:nvSpPr>
              <p:cNvPr id="31" name="AutoShape 14"/>
              <p:cNvSpPr>
                <a:spLocks noRot="1" noChangeAspect="1" noMove="1" noResize="1" noEditPoints="1" noAdjustHandles="1" noChangeArrowheads="1" noChangeShapeType="1" noTextEdit="1"/>
              </p:cNvSpPr>
              <p:nvPr/>
            </p:nvSpPr>
            <p:spPr>
              <a:xfrm>
                <a:off x="6207745" y="2678659"/>
                <a:ext cx="5433009" cy="1960392"/>
              </a:xfrm>
              <a:prstGeom prst="rect">
                <a:avLst/>
              </a:prstGeom>
              <a:blipFill rotWithShape="1">
                <a:blip r:embed="rId7"/>
                <a:stretch>
                  <a:fillRect l="-11" t="-12" r="10" b="19"/>
                </a:stretch>
              </a:blipFill>
              <a:ln w="12700" cap="flat" cmpd="sng">
                <a:noFill/>
                <a:prstDash val="solid"/>
                <a:round/>
              </a:ln>
            </p:spPr>
            <p:txBody>
              <a:bodyPr/>
              <a:lstStyle/>
              <a:p>
                <a:r>
                  <a:rPr lang="zh-CN" altLang="en-US">
                    <a:noFill/>
                  </a:rPr>
                  <a:t> </a:t>
                </a:r>
              </a:p>
            </p:txBody>
          </p:sp>
        </mc:Fallback>
      </mc:AlternateContent>
      <p:pic>
        <p:nvPicPr>
          <p:cNvPr id="33"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52565" y="4818967"/>
            <a:ext cx="304800" cy="304800"/>
          </a:xfrm>
          <a:prstGeom prst="rect">
            <a:avLst/>
          </a:prstGeom>
        </p:spPr>
      </p:pic>
      <p:sp>
        <p:nvSpPr>
          <p:cNvPr id="34" name="AutoShape 18"/>
          <p:cNvSpPr/>
          <p:nvPr/>
        </p:nvSpPr>
        <p:spPr>
          <a:xfrm>
            <a:off x="6597065" y="4780867"/>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模拟产出与运行日志</a:t>
            </a:r>
            <a:endParaRPr lang="en-US" sz="1100" dirty="0"/>
          </a:p>
        </p:txBody>
      </p:sp>
      <p:sp>
        <p:nvSpPr>
          <p:cNvPr id="35" name="AutoShape 19"/>
          <p:cNvSpPr/>
          <p:nvPr/>
        </p:nvSpPr>
        <p:spPr>
          <a:xfrm>
            <a:off x="6165556" y="5069668"/>
            <a:ext cx="5433009" cy="878165"/>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0"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users_sim.csv </a:t>
            </a:r>
            <a:r>
              <a:rPr lang="en-US" altLang="zh-CN"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10,000+ </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用户画像数据</a:t>
            </a:r>
            <a:endParaRPr lang="en-US" sz="1600" dirty="0"/>
          </a:p>
          <a:p>
            <a:pPr marL="0" indent="0" algn="l">
              <a:lnSpc>
                <a:spcPct val="150000"/>
              </a:lnSpc>
            </a:pPr>
            <a:r>
              <a:rPr lang="en-US" sz="1600" b="0"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watch_events.csv </a:t>
            </a:r>
            <a:r>
              <a:rPr lang="en-US" altLang="zh-CN" sz="1600"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690万行 </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交互日志</a:t>
            </a:r>
            <a:endPar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F2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用户行为模拟</a:t>
            </a:r>
            <a:endParaRPr kumimoji="1" lang="zh-CN" altLang="en-US" b="1" dirty="0">
              <a:latin typeface="微软雅黑" panose="020B0503020204020204" pitchFamily="34" charset="-122"/>
              <a:ea typeface="微软雅黑" panose="020B0503020204020204" pitchFamily="34" charset="-122"/>
            </a:endParaRPr>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6675" y="1382858"/>
            <a:ext cx="5301001" cy="4459691"/>
          </a:xfrm>
          <a:prstGeom prst="rect">
            <a:avLst/>
          </a:prstGeom>
        </p:spPr>
      </p:pic>
      <p:sp>
        <p:nvSpPr>
          <p:cNvPr id="18" name="矩形: 圆角 2"/>
          <p:cNvSpPr/>
          <p:nvPr>
            <p:custDataLst>
              <p:tags r:id="rId1"/>
            </p:custDataLst>
          </p:nvPr>
        </p:nvSpPr>
        <p:spPr>
          <a:xfrm>
            <a:off x="5822950" y="767117"/>
            <a:ext cx="5949949" cy="5507413"/>
          </a:xfrm>
          <a:prstGeom prst="roundRect">
            <a:avLst>
              <a:gd name="adj" fmla="val 3171"/>
            </a:avLst>
          </a:prstGeom>
          <a:solidFill>
            <a:schemeClr val="bg2">
              <a:alpha val="5000"/>
            </a:schemeClr>
          </a:solidFill>
          <a:ln w="15875">
            <a:solidFill>
              <a:schemeClr val="accent1">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AutoShape 9"/>
          <p:cNvSpPr/>
          <p:nvPr/>
        </p:nvSpPr>
        <p:spPr>
          <a:xfrm>
            <a:off x="6534785" y="1085120"/>
            <a:ext cx="377126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核心：三槽候选池机制</a:t>
            </a:r>
            <a:endParaRPr lang="en-US" dirty="0"/>
          </a:p>
        </p:txBody>
      </p:sp>
      <p:sp>
        <p:nvSpPr>
          <p:cNvPr id="22" name="AutoShape 10"/>
          <p:cNvSpPr/>
          <p:nvPr/>
        </p:nvSpPr>
        <p:spPr>
          <a:xfrm>
            <a:off x="6193155" y="1414638"/>
            <a:ext cx="4525645" cy="116485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0"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兴趣槽A</a:t>
            </a:r>
            <a:r>
              <a:rPr lang="en-US" sz="1600" b="0"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(40%): </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基于画像精准匹配</a:t>
            </a:r>
            <a:endParaRPr lang="en-US" sz="1600" dirty="0"/>
          </a:p>
          <a:p>
            <a:pPr marL="0" indent="0" algn="l">
              <a:lnSpc>
                <a:spcPct val="150000"/>
              </a:lnSpc>
            </a:pPr>
            <a:r>
              <a:rPr lang="en-US" sz="1600" b="0" i="0" u="none" strike="noStrike" dirty="0">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热度槽B</a:t>
            </a:r>
            <a:r>
              <a:rPr lang="en-US" sz="1600" b="0" i="0" u="none" strike="noStrike" dirty="0">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 (40%): </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推荐全站热门内容</a:t>
            </a:r>
            <a:endPar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600" b="0" i="0" u="none" strike="noStrike" dirty="0">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探索槽C</a:t>
            </a:r>
            <a:r>
              <a:rPr lang="en-US" sz="1600" b="0" i="0" u="none" strike="noStrike" dirty="0">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 (20%): </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挖掘长尾，模拟发现</a:t>
            </a:r>
            <a:endPar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3"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39101" y="1129570"/>
            <a:ext cx="287733" cy="304800"/>
          </a:xfrm>
          <a:prstGeom prst="rect">
            <a:avLst/>
          </a:prstGeom>
        </p:spPr>
      </p:pic>
      <p:pic>
        <p:nvPicPr>
          <p:cNvPr id="6" name="图片 5"/>
          <p:cNvPicPr>
            <a:picLocks noChangeAspect="1"/>
          </p:cNvPicPr>
          <p:nvPr/>
        </p:nvPicPr>
        <p:blipFill>
          <a:blip r:embed="rId5"/>
          <a:stretch>
            <a:fillRect/>
          </a:stretch>
        </p:blipFill>
        <p:spPr>
          <a:xfrm>
            <a:off x="6096000" y="2855975"/>
            <a:ext cx="5363082" cy="30953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2" name="矩形: 圆角 51"/>
          <p:cNvSpPr/>
          <p:nvPr/>
        </p:nvSpPr>
        <p:spPr>
          <a:xfrm>
            <a:off x="6966196" y="1261885"/>
            <a:ext cx="4344134" cy="1720851"/>
          </a:xfrm>
          <a:prstGeom prst="roundRect">
            <a:avLst>
              <a:gd name="adj" fmla="val 5828"/>
            </a:avLst>
          </a:prstGeom>
          <a:solidFill>
            <a:schemeClr val="bg1"/>
          </a:solidFill>
          <a:ln w="15875">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
          <p:cNvSpPr txBox="1"/>
          <p:nvPr/>
        </p:nvSpPr>
        <p:spPr>
          <a:xfrm>
            <a:off x="925830" y="223199"/>
            <a:ext cx="10829762" cy="504000"/>
          </a:xfrm>
          <a:prstGeom prst="rect">
            <a:avLst/>
          </a:prstGeom>
          <a:noFill/>
          <a:ln cap="sq">
            <a:noFill/>
          </a:ln>
        </p:spPr>
        <p:txBody>
          <a:bodyPr vert="horz" wrap="square" lIns="0" tIns="0" rIns="0" bIns="0" rtlCol="0" anchor="ctr"/>
          <a:lstStyle/>
          <a:p>
            <a:pPr>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F2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cs typeface="Source Han Sans CN Bold"/>
              </a:rPr>
              <a:t>用户行为模拟</a:t>
            </a:r>
            <a:endParaRPr kumimoji="1" lang="zh-CN" altLang="en-US" sz="2800" b="1" dirty="0">
              <a:latin typeface="微软雅黑" panose="020B0503020204020204" pitchFamily="34" charset="-122"/>
              <a:ea typeface="微软雅黑" panose="020B0503020204020204" pitchFamily="34" charset="-122"/>
            </a:endParaRPr>
          </a:p>
        </p:txBody>
      </p:sp>
      <p:pic>
        <p:nvPicPr>
          <p:cNvPr id="50" name="图片 4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473573" y="1026628"/>
            <a:ext cx="6304663" cy="3677452"/>
          </a:xfrm>
          <a:prstGeom prst="rect">
            <a:avLst/>
          </a:prstGeom>
          <a:ln>
            <a:noFill/>
          </a:ln>
          <a:effectLst>
            <a:outerShdw blurRad="50800" dist="38100" dir="5400000" algn="t" rotWithShape="0">
              <a:prstClr val="black">
                <a:alpha val="40000"/>
              </a:prstClr>
            </a:outerShdw>
          </a:effectLst>
        </p:spPr>
      </p:pic>
      <p:pic>
        <p:nvPicPr>
          <p:cNvPr id="51" name="图片 5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430270" y="3462611"/>
            <a:ext cx="5673091" cy="3077550"/>
          </a:xfrm>
          <a:prstGeom prst="rect">
            <a:avLst/>
          </a:prstGeom>
        </p:spPr>
      </p:pic>
      <p:sp>
        <p:nvSpPr>
          <p:cNvPr id="53" name="矩形: 圆角 52"/>
          <p:cNvSpPr/>
          <p:nvPr/>
        </p:nvSpPr>
        <p:spPr>
          <a:xfrm>
            <a:off x="717550" y="4782822"/>
            <a:ext cx="5607050" cy="1585551"/>
          </a:xfrm>
          <a:prstGeom prst="roundRect">
            <a:avLst>
              <a:gd name="adj" fmla="val 5828"/>
            </a:avLst>
          </a:prstGeom>
          <a:solidFill>
            <a:schemeClr val="bg1"/>
          </a:solidFill>
          <a:ln w="1587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7093048" y="1385595"/>
            <a:ext cx="4140101" cy="1120775"/>
          </a:xfrm>
          <a:prstGeom prst="rect">
            <a:avLst/>
          </a:prstGeom>
          <a:noFill/>
        </p:spPr>
        <p:txBody>
          <a:bodyPr wrap="square" rtlCol="0">
            <a:noAutofit/>
          </a:bodyPr>
          <a:lstStyle/>
          <a:p>
            <a:pPr algn="l">
              <a:lnSpc>
                <a:spcPct val="125000"/>
              </a:lnSpc>
              <a:buSzTx/>
              <a:defRPr/>
            </a:pP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展示 1 万用户的画像列表与整体兴趣领域分布统计，支持多维度筛选。</a:t>
            </a:r>
          </a:p>
          <a:p>
            <a:pPr algn="l">
              <a:lnSpc>
                <a:spcPct val="125000"/>
              </a:lnSpc>
              <a:buSzTx/>
              <a:defRPr/>
            </a:pPr>
            <a:r>
              <a:rPr lang="zh-CN" altLang="en-US" sz="1600" dirty="0">
                <a:solidFill>
                  <a:schemeClr val="tx1"/>
                </a:solidFill>
                <a:latin typeface="Noto Sans SC" panose="020B0200000000000000" charset="-122"/>
                <a:ea typeface="Noto Sans SC" panose="020B0200000000000000" charset="-122"/>
                <a:cs typeface="Noto Sans SC" panose="020B0200000000000000" charset="-122"/>
              </a:rPr>
              <a:t>这是用户库的基础管理界面，能直观看到全量用户数据和兴趣分布。</a:t>
            </a:r>
          </a:p>
          <a:p>
            <a:pPr algn="l">
              <a:lnSpc>
                <a:spcPct val="125000"/>
              </a:lnSpc>
              <a:buSzTx/>
              <a:defRPr/>
            </a:pPr>
            <a:endParaRPr lang="zh-CN" altLang="en-US" sz="1600" dirty="0">
              <a:solidFill>
                <a:schemeClr val="tx1"/>
              </a:solidFill>
              <a:latin typeface="Noto Sans SC" panose="020B0200000000000000" charset="-122"/>
              <a:ea typeface="Noto Sans SC" panose="020B0200000000000000" charset="-122"/>
              <a:cs typeface="Noto Sans SC" panose="020B0200000000000000" charset="-122"/>
            </a:endParaRPr>
          </a:p>
        </p:txBody>
      </p:sp>
      <p:sp>
        <p:nvSpPr>
          <p:cNvPr id="57" name="文本框 56"/>
          <p:cNvSpPr txBox="1"/>
          <p:nvPr/>
        </p:nvSpPr>
        <p:spPr>
          <a:xfrm>
            <a:off x="876300" y="4949192"/>
            <a:ext cx="5312685" cy="1311908"/>
          </a:xfrm>
          <a:prstGeom prst="rect">
            <a:avLst/>
          </a:prstGeom>
          <a:noFill/>
        </p:spPr>
        <p:txBody>
          <a:bodyPr wrap="square" rtlCol="0">
            <a:noAutofit/>
          </a:bodyPr>
          <a:lstStyle/>
          <a:p>
            <a:pPr algn="l">
              <a:lnSpc>
                <a:spcPct val="125000"/>
              </a:lnSpc>
              <a:buSzTx/>
              <a:defRPr/>
            </a:pPr>
            <a:r>
              <a:rPr lang="zh-CN" altLang="en-US" sz="1600" dirty="0">
                <a:solidFill>
                  <a:schemeClr val="tx1"/>
                </a:solidFill>
                <a:latin typeface="Noto Sans SC" panose="020B0200000000000000" charset="-122"/>
                <a:ea typeface="Noto Sans SC" panose="020B0200000000000000" charset="-122"/>
                <a:cs typeface="Noto Sans SC" panose="020B0200000000000000" charset="-122"/>
                <a:sym typeface="+mn-ea"/>
              </a:rPr>
              <a:t>输入用户 </a:t>
            </a:r>
            <a:r>
              <a:rPr lang="en-US" altLang="zh-CN" sz="1600" dirty="0">
                <a:solidFill>
                  <a:schemeClr val="tx1"/>
                </a:solidFill>
                <a:latin typeface="Noto Sans SC" panose="020B0200000000000000" charset="-122"/>
                <a:ea typeface="Noto Sans SC" panose="020B0200000000000000" charset="-122"/>
                <a:cs typeface="Noto Sans SC" panose="020B0200000000000000" charset="-122"/>
                <a:sym typeface="+mn-ea"/>
              </a:rPr>
              <a:t>ID </a:t>
            </a:r>
            <a:r>
              <a:rPr lang="zh-CN" altLang="en-US" sz="1600" dirty="0">
                <a:solidFill>
                  <a:schemeClr val="tx1"/>
                </a:solidFill>
                <a:latin typeface="Noto Sans SC" panose="020B0200000000000000" charset="-122"/>
                <a:ea typeface="Noto Sans SC" panose="020B0200000000000000" charset="-122"/>
                <a:cs typeface="Noto Sans SC" panose="020B0200000000000000" charset="-122"/>
                <a:sym typeface="+mn-ea"/>
              </a:rPr>
              <a:t>后，展示单用户的画像信息与对应兴趣领域分布柱状图。</a:t>
            </a:r>
            <a:endParaRPr lang="zh-CN" altLang="en-US" sz="1600" dirty="0">
              <a:solidFill>
                <a:schemeClr val="tx1"/>
              </a:solidFill>
              <a:latin typeface="Noto Sans SC" panose="020B0200000000000000" charset="-122"/>
              <a:ea typeface="Noto Sans SC" panose="020B0200000000000000" charset="-122"/>
              <a:cs typeface="Noto Sans SC" panose="020B0200000000000000" charset="-122"/>
            </a:endParaRPr>
          </a:p>
          <a:p>
            <a:pPr algn="l">
              <a:lnSpc>
                <a:spcPct val="125000"/>
              </a:lnSpc>
              <a:buSzTx/>
              <a:defRPr/>
            </a:pPr>
            <a:r>
              <a:rPr lang="zh-CN" altLang="en-US" sz="1600" dirty="0">
                <a:solidFill>
                  <a:schemeClr val="tx1"/>
                </a:solidFill>
                <a:latin typeface="Noto Sans SC" panose="020B0200000000000000" charset="-122"/>
                <a:ea typeface="Noto Sans SC" panose="020B0200000000000000" charset="-122"/>
                <a:cs typeface="Noto Sans SC" panose="020B0200000000000000" charset="-122"/>
                <a:sym typeface="+mn-ea"/>
              </a:rPr>
              <a:t>这是单用户的详情视图，方便快速定位并查看特定用户的偏好特征。</a:t>
            </a:r>
            <a:endParaRPr lang="zh-CN" altLang="en-US" sz="1600" b="1" dirty="0">
              <a:solidFill>
                <a:schemeClr val="tx1"/>
              </a:solidFill>
              <a:latin typeface="Noto Sans SC" panose="020B0200000000000000" charset="-122"/>
              <a:ea typeface="Noto Sans SC" panose="020B0200000000000000" charset="-122"/>
              <a:cs typeface="Noto Sans SC" panose="020B0200000000000000" charset="-122"/>
              <a:sym typeface="+mn-ea"/>
            </a:endParaRPr>
          </a:p>
        </p:txBody>
      </p:sp>
      <p:sp>
        <p:nvSpPr>
          <p:cNvPr id="58" name="天蝎PPT原创©6"/>
          <p:cNvSpPr/>
          <p:nvPr/>
        </p:nvSpPr>
        <p:spPr>
          <a:xfrm rot="16200000">
            <a:off x="5366226" y="5232534"/>
            <a:ext cx="2037401" cy="577852"/>
          </a:xfrm>
          <a:prstGeom prst="trapezoid">
            <a:avLst>
              <a:gd name="adj" fmla="val 33700"/>
            </a:avLst>
          </a:prstGeom>
          <a:gradFill flip="none" rotWithShape="1">
            <a:gsLst>
              <a:gs pos="0">
                <a:schemeClr val="accent1">
                  <a:alpha val="0"/>
                </a:schemeClr>
              </a:gs>
              <a:gs pos="97000">
                <a:schemeClr val="accent1">
                  <a:alpha val="40000"/>
                </a:schemeClr>
              </a:gs>
            </a:gsLst>
            <a:lin ang="5400000" scaled="1"/>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 name="天蝎PPT原创©6"/>
          <p:cNvSpPr/>
          <p:nvPr/>
        </p:nvSpPr>
        <p:spPr>
          <a:xfrm rot="5400000" flipH="1">
            <a:off x="5907942" y="1824887"/>
            <a:ext cx="2109673" cy="577852"/>
          </a:xfrm>
          <a:prstGeom prst="trapezoid">
            <a:avLst>
              <a:gd name="adj" fmla="val 33700"/>
            </a:avLst>
          </a:prstGeom>
          <a:gradFill flip="none" rotWithShape="1">
            <a:gsLst>
              <a:gs pos="0">
                <a:schemeClr val="accent1">
                  <a:alpha val="0"/>
                </a:schemeClr>
              </a:gs>
              <a:gs pos="97000">
                <a:schemeClr val="accent1">
                  <a:alpha val="40000"/>
                </a:schemeClr>
              </a:gs>
            </a:gsLst>
            <a:lin ang="5400000" scaled="1"/>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矩形 9"/>
          <p:cNvSpPr txBox="1"/>
          <p:nvPr/>
        </p:nvSpPr>
        <p:spPr>
          <a:xfrm>
            <a:off x="845104" y="1685582"/>
            <a:ext cx="115432" cy="311552"/>
          </a:xfrm>
          <a:prstGeom prst="rect">
            <a:avLst/>
          </a:prstGeom>
          <a:gradFill>
            <a:gsLst>
              <a:gs pos="0">
                <a:schemeClr val="accent1">
                  <a:lumMod val="40000"/>
                  <a:lumOff val="60000"/>
                </a:schemeClr>
              </a:gs>
              <a:gs pos="100000">
                <a:schemeClr val="accent1">
                  <a:lumMod val="75000"/>
                </a:schemeClr>
              </a:gs>
            </a:gsLst>
            <a:lin ang="150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矩形 10"/>
          <p:cNvSpPr txBox="1"/>
          <p:nvPr/>
        </p:nvSpPr>
        <p:spPr>
          <a:xfrm>
            <a:off x="973294" y="1685582"/>
            <a:ext cx="45719" cy="311552"/>
          </a:xfrm>
          <a:prstGeom prst="rect">
            <a:avLst/>
          </a:prstGeom>
          <a:gradFill>
            <a:gsLst>
              <a:gs pos="0">
                <a:schemeClr val="accent1">
                  <a:lumMod val="40000"/>
                  <a:lumOff val="60000"/>
                </a:schemeClr>
              </a:gs>
              <a:gs pos="100000">
                <a:schemeClr val="accent1">
                  <a:lumMod val="75000"/>
                </a:schemeClr>
              </a:gs>
            </a:gsLst>
            <a:lin ang="150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F3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相似用户群体分析</a:t>
            </a:r>
            <a:endParaRPr kumimoji="1" lang="zh-CN" altLang="en-US" b="1" dirty="0">
              <a:latin typeface="微软雅黑" panose="020B0503020204020204" pitchFamily="34" charset="-122"/>
              <a:ea typeface="微软雅黑" panose="020B0503020204020204" pitchFamily="34" charset="-122"/>
            </a:endParaRPr>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7" name="AutoShape 4"/>
          <p:cNvSpPr/>
          <p:nvPr/>
        </p:nvSpPr>
        <p:spPr>
          <a:xfrm>
            <a:off x="762000" y="952501"/>
            <a:ext cx="10567234" cy="1276349"/>
          </a:xfrm>
          <a:prstGeom prst="roundRect">
            <a:avLst>
              <a:gd name="adj" fmla="val 4615"/>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dirty="0"/>
          </a:p>
        </p:txBody>
      </p:sp>
      <p:pic>
        <p:nvPicPr>
          <p:cNvPr id="28"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127125"/>
            <a:ext cx="406400" cy="406400"/>
          </a:xfrm>
          <a:prstGeom prst="rect">
            <a:avLst/>
          </a:prstGeom>
        </p:spPr>
      </p:pic>
      <p:sp>
        <p:nvSpPr>
          <p:cNvPr id="29" name="AutoShape 6"/>
          <p:cNvSpPr/>
          <p:nvPr/>
        </p:nvSpPr>
        <p:spPr>
          <a:xfrm>
            <a:off x="1587500" y="1171699"/>
            <a:ext cx="3562350" cy="25775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技术路线：迈向语义理解</a:t>
            </a:r>
            <a:endParaRPr lang="en-US" sz="1100" dirty="0"/>
          </a:p>
        </p:txBody>
      </p:sp>
      <p:sp>
        <p:nvSpPr>
          <p:cNvPr id="30" name="AutoShape 7"/>
          <p:cNvSpPr/>
          <p:nvPr/>
        </p:nvSpPr>
        <p:spPr>
          <a:xfrm>
            <a:off x="1022350" y="1368082"/>
            <a:ext cx="9791700" cy="915801"/>
          </a:xfrm>
          <a:prstGeom prst="rect">
            <a:avLst/>
          </a:prstGeom>
          <a:noFill/>
          <a:ln w="12700" cap="flat" cmpd="sng">
            <a:noFill/>
            <a:prstDash val="solid"/>
            <a:round/>
          </a:ln>
        </p:spPr>
        <p:txBody>
          <a:bodyPr vert="horz" wrap="square" lIns="0" tIns="0" rIns="0" bIns="0" rtlCol="0" anchor="ctr" anchorCtr="0"/>
          <a:lstStyle/>
          <a:p>
            <a:pPr>
              <a:lnSpc>
                <a:spcPct val="133000"/>
              </a:lnSpc>
              <a:defRPr/>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我们没有沿用传统的基于关键词或简单标签的检索方式，而是引入了先进的</a:t>
            </a:r>
            <a:r>
              <a:rPr lang="en-US" sz="1300" b="1"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sentence</a:t>
            </a:r>
            <a:r>
              <a:rPr lang="en-US" sz="1300" b="1"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transformer</a:t>
            </a:r>
            <a:r>
              <a:rPr lang="en-US" sz="1300" b="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(all-mpnet-base-v2)</a:t>
            </a:r>
            <a:r>
              <a:rPr lang="zh-CN" altLang="en-US" sz="1300" b="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的</a:t>
            </a:r>
            <a:r>
              <a:rPr lang="zh-CN" altLang="en-US" sz="1300" b="1"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编码模型。</a:t>
            </a:r>
            <a:endParaRPr lang="en-US" altLang="zh-CN" sz="1100" dirty="0">
              <a:sym typeface="Noto Sans SC" panose="020B0200000000000000" charset="-122"/>
            </a:endParaRPr>
          </a:p>
          <a:p>
            <a:pPr>
              <a:lnSpc>
                <a:spcPct val="133000"/>
              </a:lnSpc>
              <a:defRPr/>
            </a:pPr>
            <a:r>
              <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该模型能将用户复杂的兴趣画像，深度编码为</a:t>
            </a: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768 </a:t>
            </a:r>
            <a:r>
              <a:rPr lang="en-US" sz="13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维的高维语义向量</a:t>
            </a: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，从而突破字面限制，实现基于深层语义逻辑的相似性匹配</a:t>
            </a:r>
            <a:r>
              <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31" name="AutoShape 8"/>
          <p:cNvSpPr/>
          <p:nvPr/>
        </p:nvSpPr>
        <p:spPr>
          <a:xfrm>
            <a:off x="762000" y="2368301"/>
            <a:ext cx="10567235" cy="2900951"/>
          </a:xfrm>
          <a:prstGeom prst="roundRect">
            <a:avLst>
              <a:gd name="adj" fmla="val 4615"/>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a:p>
        </p:txBody>
      </p:sp>
      <p:pic>
        <p:nvPicPr>
          <p:cNvPr id="32"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2350" y="2419350"/>
            <a:ext cx="406400" cy="406400"/>
          </a:xfrm>
          <a:prstGeom prst="rect">
            <a:avLst/>
          </a:prstGeom>
        </p:spPr>
      </p:pic>
      <p:sp>
        <p:nvSpPr>
          <p:cNvPr id="33" name="AutoShape 10"/>
          <p:cNvSpPr/>
          <p:nvPr/>
        </p:nvSpPr>
        <p:spPr>
          <a:xfrm>
            <a:off x="1597967" y="2343150"/>
            <a:ext cx="6478211"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实现步骤</a:t>
            </a:r>
            <a:endParaRPr lang="en-US" sz="1100" dirty="0"/>
          </a:p>
        </p:txBody>
      </p:sp>
      <p:sp>
        <p:nvSpPr>
          <p:cNvPr id="34" name="AutoShape 11"/>
          <p:cNvSpPr/>
          <p:nvPr/>
        </p:nvSpPr>
        <p:spPr>
          <a:xfrm>
            <a:off x="1076514" y="2724150"/>
            <a:ext cx="9791700" cy="2476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en-US" sz="13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用户画像文本化</a:t>
            </a: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p>
          <a:p>
            <a:pPr marL="0" indent="0" algn="l">
              <a:lnSpc>
                <a:spcPct val="150000"/>
              </a:lnSpc>
              <a:defRPr/>
            </a:pPr>
            <a:r>
              <a:rPr lang="zh-CN" alt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把每个用户三种兴趣信息：</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primary_field</a:t>
            </a:r>
            <a:r>
              <a:rPr lang="zh-CN" alt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interest_fields</a:t>
            </a:r>
            <a:r>
              <a:rPr lang="zh-CN" alt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interest_tags</a:t>
            </a:r>
            <a:r>
              <a:rPr lang="zh-CN" alt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直接拼成一段文字，用重复次数体现重要程度</a:t>
            </a:r>
            <a:endParaRPr lang="en-US" sz="1100" dirty="0"/>
          </a:p>
          <a:p>
            <a:pPr marL="0" indent="0" algn="l">
              <a:lnSpc>
                <a:spcPct val="150000"/>
              </a:lnSpc>
            </a:pP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2. </a:t>
            </a:r>
            <a:r>
              <a:rPr lang="en-US" sz="13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模型向量化编码</a:t>
            </a: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p>
          <a:p>
            <a:pPr marL="0" indent="0" algn="l">
              <a:lnSpc>
                <a:spcPct val="150000"/>
              </a:lnSpc>
            </a:pPr>
            <a:r>
              <a:rPr lang="zh-CN" alt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输入模型，生成归一化、高维的用户特征向量</a:t>
            </a:r>
            <a:endPar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3. </a:t>
            </a:r>
            <a:r>
              <a:rPr lang="en-US" sz="13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向量数据库入库</a:t>
            </a: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p>
          <a:p>
            <a:pPr marL="0" indent="0" algn="l">
              <a:lnSpc>
                <a:spcPct val="150000"/>
              </a:lnSpc>
            </a:pP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存入高性能的</a:t>
            </a:r>
            <a:r>
              <a:rPr lang="en-US" sz="12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Qdrant</a:t>
            </a:r>
            <a:r>
              <a:rPr lang="en-US" sz="12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向量数据库</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进行存储与索引</a:t>
            </a:r>
            <a:endPar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4. </a:t>
            </a:r>
            <a:r>
              <a:rPr lang="en-US" sz="13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相似性检索</a:t>
            </a:r>
            <a:r>
              <a:rPr lang="en-US" sz="13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p>
          <a:p>
            <a:pPr marL="0" indent="0" algn="l">
              <a:lnSpc>
                <a:spcPct val="150000"/>
              </a:lnSpc>
            </a:pP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计算向量间的</a:t>
            </a:r>
            <a:r>
              <a:rPr lang="en-US" sz="12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余弦相似度</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，快速检索出Top-K个最相似的用户群体</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35" name="AutoShape 12"/>
          <p:cNvSpPr/>
          <p:nvPr/>
        </p:nvSpPr>
        <p:spPr>
          <a:xfrm>
            <a:off x="761999" y="5408703"/>
            <a:ext cx="10567235" cy="1311699"/>
          </a:xfrm>
          <a:prstGeom prst="roundRect">
            <a:avLst>
              <a:gd name="adj" fmla="val 4615"/>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a:p>
        </p:txBody>
      </p:sp>
      <p:pic>
        <p:nvPicPr>
          <p:cNvPr id="36"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463352"/>
            <a:ext cx="406400" cy="406400"/>
          </a:xfrm>
          <a:prstGeom prst="rect">
            <a:avLst/>
          </a:prstGeom>
        </p:spPr>
      </p:pic>
      <p:sp>
        <p:nvSpPr>
          <p:cNvPr id="37" name="AutoShape 14"/>
          <p:cNvSpPr/>
          <p:nvPr/>
        </p:nvSpPr>
        <p:spPr>
          <a:xfrm>
            <a:off x="1552331" y="5558353"/>
            <a:ext cx="7315778" cy="206022"/>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效果验证与结论</a:t>
            </a:r>
            <a:endParaRPr lang="en-US" sz="1100" dirty="0"/>
          </a:p>
        </p:txBody>
      </p:sp>
      <p:sp>
        <p:nvSpPr>
          <p:cNvPr id="38" name="AutoShape 15"/>
          <p:cNvSpPr/>
          <p:nvPr/>
        </p:nvSpPr>
        <p:spPr>
          <a:xfrm>
            <a:off x="1016000" y="5903827"/>
            <a:ext cx="10166350" cy="67193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通过对检索结果的可视化分析与数据复盘，我们验证了技术的有效性：</a:t>
            </a:r>
            <a:r>
              <a:rPr lang="en-US" sz="13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具有相同核心兴趣领域的用户，其向量在向量空间中的距离显著更近</a:t>
            </a:r>
            <a:endParaRPr lang="en-US" sz="1100" dirty="0"/>
          </a:p>
          <a:p>
            <a:pPr marL="0" indent="0" algn="l">
              <a:lnSpc>
                <a:spcPct val="125000"/>
              </a:lnSpc>
              <a:spcBef>
                <a:spcPts val="1000"/>
              </a:spcBef>
            </a:pPr>
            <a:r>
              <a:rPr 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证明模型有效捕捉了兴趣的深层语义特征</a:t>
            </a:r>
            <a:endParaRPr lang="en-US" sz="12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F3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相似用户群体分析</a:t>
            </a:r>
            <a:endParaRPr kumimoji="1" lang="zh-CN" altLang="en-US" b="1" dirty="0">
              <a:latin typeface="微软雅黑" panose="020B0503020204020204" pitchFamily="34" charset="-122"/>
              <a:ea typeface="微软雅黑" panose="020B0503020204020204" pitchFamily="34" charset="-122"/>
            </a:endParaRPr>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矩形: 圆角 16"/>
          <p:cNvSpPr/>
          <p:nvPr/>
        </p:nvSpPr>
        <p:spPr>
          <a:xfrm>
            <a:off x="430530" y="1267460"/>
            <a:ext cx="3442335" cy="2273628"/>
          </a:xfrm>
          <a:prstGeom prst="roundRect">
            <a:avLst>
              <a:gd name="adj" fmla="val 0"/>
            </a:avLst>
          </a:prstGeom>
          <a:solidFill>
            <a:schemeClr val="bg1"/>
          </a:solidFill>
          <a:ln w="3175" cap="flat" cmpd="sng" algn="ctr">
            <a:solidFill>
              <a:schemeClr val="accent1">
                <a:alpha val="50000"/>
              </a:schemeClr>
            </a:solidFill>
            <a:prstDash val="solid"/>
            <a:miter lim="800000"/>
          </a:ln>
          <a:effectLst>
            <a:outerShdw blurRad="419100" dist="50800" dir="5400000" algn="t" rotWithShape="0">
              <a:schemeClr val="accent1">
                <a:alpha val="20000"/>
              </a:schemeClr>
            </a:outerShdw>
          </a:effectLst>
        </p:spPr>
        <p:txBody>
          <a:bodyPr rtlCol="0" anchor="ctr"/>
          <a:lstStyle/>
          <a:p>
            <a:pPr algn="ctr"/>
            <a:endParaRPr lang="zh-CN" altLang="en-US" dirty="0">
              <a:solidFill>
                <a:srgbClr val="E5EDF4"/>
              </a:solidFill>
              <a:latin typeface="思源黑体 CN Medium" charset="0"/>
              <a:ea typeface="思源黑体 CN Medium" charset="0"/>
            </a:endParaRPr>
          </a:p>
        </p:txBody>
      </p:sp>
      <p:pic>
        <p:nvPicPr>
          <p:cNvPr id="38" name="Picture 8"/>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33166" y="1256000"/>
            <a:ext cx="3422458" cy="2350027"/>
          </a:xfrm>
          <a:prstGeom prst="rect">
            <a:avLst/>
          </a:prstGeom>
          <a:noFill/>
          <a:effectLst/>
          <a:extLst>
            <a:ext uri="{909E8E84-426E-40DD-AFC4-6F175D3DCCD1}">
              <a14:hiddenFill xmlns:a14="http://schemas.microsoft.com/office/drawing/2010/main">
                <a:solidFill>
                  <a:srgbClr val="FFFFFF"/>
                </a:solidFill>
              </a14:hiddenFill>
            </a:ext>
          </a:extLst>
        </p:spPr>
      </p:pic>
      <p:sp>
        <p:nvSpPr>
          <p:cNvPr id="39" name="矩形: 圆角 16"/>
          <p:cNvSpPr/>
          <p:nvPr/>
        </p:nvSpPr>
        <p:spPr>
          <a:xfrm>
            <a:off x="4370705" y="1267460"/>
            <a:ext cx="3442335" cy="2273628"/>
          </a:xfrm>
          <a:prstGeom prst="roundRect">
            <a:avLst>
              <a:gd name="adj" fmla="val 0"/>
            </a:avLst>
          </a:prstGeom>
          <a:solidFill>
            <a:schemeClr val="bg1"/>
          </a:solidFill>
          <a:ln w="3175" cap="flat" cmpd="sng" algn="ctr">
            <a:solidFill>
              <a:schemeClr val="accent1">
                <a:alpha val="50000"/>
              </a:schemeClr>
            </a:solidFill>
            <a:prstDash val="solid"/>
            <a:miter lim="800000"/>
          </a:ln>
          <a:effectLst>
            <a:outerShdw blurRad="419100" dist="50800" dir="5400000" algn="t" rotWithShape="0">
              <a:schemeClr val="accent1">
                <a:alpha val="20000"/>
              </a:schemeClr>
            </a:outerShdw>
          </a:effectLst>
        </p:spPr>
        <p:txBody>
          <a:bodyPr rtlCol="0" anchor="ctr">
            <a:noAutofit/>
          </a:bodyPr>
          <a:lstStyle/>
          <a:p>
            <a:pPr lvl="0" algn="ctr">
              <a:buClrTx/>
              <a:buSzTx/>
              <a:buFontTx/>
            </a:pPr>
            <a:endParaRPr lang="zh-CN" altLang="en-US" dirty="0">
              <a:solidFill>
                <a:srgbClr val="E5EDF4"/>
              </a:solidFill>
              <a:latin typeface="思源黑体 CN Medium" charset="0"/>
              <a:ea typeface="思源黑体 CN Medium" charset="0"/>
              <a:sym typeface="+mn-ea"/>
            </a:endParaRPr>
          </a:p>
        </p:txBody>
      </p:sp>
      <p:sp>
        <p:nvSpPr>
          <p:cNvPr id="40" name="矩形: 圆角 16"/>
          <p:cNvSpPr/>
          <p:nvPr/>
        </p:nvSpPr>
        <p:spPr>
          <a:xfrm>
            <a:off x="8247380" y="1267460"/>
            <a:ext cx="3442335" cy="2245638"/>
          </a:xfrm>
          <a:prstGeom prst="roundRect">
            <a:avLst>
              <a:gd name="adj" fmla="val 0"/>
            </a:avLst>
          </a:prstGeom>
          <a:solidFill>
            <a:schemeClr val="bg1"/>
          </a:solidFill>
          <a:ln w="3175" cap="flat" cmpd="sng" algn="ctr">
            <a:solidFill>
              <a:schemeClr val="accent1">
                <a:alpha val="50000"/>
              </a:schemeClr>
            </a:solidFill>
            <a:prstDash val="solid"/>
            <a:miter lim="800000"/>
          </a:ln>
          <a:effectLst>
            <a:outerShdw blurRad="419100" dist="50800" dir="5400000" algn="t" rotWithShape="0">
              <a:schemeClr val="accent1">
                <a:alpha val="20000"/>
              </a:schemeClr>
            </a:outerShdw>
          </a:effectLst>
        </p:spPr>
        <p:txBody>
          <a:bodyPr rtlCol="0" anchor="ctr">
            <a:noAutofit/>
          </a:bodyPr>
          <a:lstStyle/>
          <a:p>
            <a:pPr lvl="0" algn="ctr">
              <a:buClrTx/>
              <a:buSzTx/>
              <a:buFontTx/>
            </a:pPr>
            <a:endParaRPr lang="zh-CN" altLang="en-US" dirty="0">
              <a:solidFill>
                <a:srgbClr val="E5EDF4"/>
              </a:solidFill>
              <a:latin typeface="思源黑体 CN Medium" charset="0"/>
              <a:ea typeface="思源黑体 CN Medium" charset="0"/>
              <a:sym typeface="+mn-ea"/>
            </a:endParaRPr>
          </a:p>
        </p:txBody>
      </p:sp>
      <p:grpSp>
        <p:nvGrpSpPr>
          <p:cNvPr id="43" name="组合 42"/>
          <p:cNvGrpSpPr/>
          <p:nvPr/>
        </p:nvGrpSpPr>
        <p:grpSpPr>
          <a:xfrm>
            <a:off x="392363" y="3513667"/>
            <a:ext cx="3480502" cy="3033818"/>
            <a:chOff x="901" y="4959"/>
            <a:chExt cx="5437" cy="5352"/>
          </a:xfrm>
        </p:grpSpPr>
        <p:sp>
          <p:nvSpPr>
            <p:cNvPr id="44" name="矩形 43"/>
            <p:cNvSpPr/>
            <p:nvPr>
              <p:custDataLst>
                <p:tags r:id="rId7"/>
              </p:custDataLst>
            </p:nvPr>
          </p:nvSpPr>
          <p:spPr>
            <a:xfrm rot="5400000">
              <a:off x="960" y="4900"/>
              <a:ext cx="5320" cy="5437"/>
            </a:xfrm>
            <a:prstGeom prst="rect">
              <a:avLst/>
            </a:prstGeom>
            <a:gradFill flip="none" rotWithShape="1">
              <a:gsLst>
                <a:gs pos="0">
                  <a:schemeClr val="accent1">
                    <a:alpha val="10000"/>
                  </a:schemeClr>
                </a:gs>
                <a:gs pos="100000">
                  <a:schemeClr val="accent1">
                    <a:alpha val="10000"/>
                  </a:schemeClr>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custDataLst>
                <p:tags r:id="rId8"/>
              </p:custDataLst>
            </p:nvPr>
          </p:nvSpPr>
          <p:spPr>
            <a:xfrm>
              <a:off x="1370" y="5220"/>
              <a:ext cx="4494" cy="891"/>
            </a:xfrm>
            <a:prstGeom prst="rect">
              <a:avLst/>
            </a:prstGeom>
            <a:noFill/>
          </p:spPr>
          <p:txBody>
            <a:bodyPr wrap="square" rtlCol="0">
              <a:spAutoFit/>
            </a:bodyPr>
            <a:lstStyle/>
            <a:p>
              <a:pPr algn="ctr">
                <a:lnSpc>
                  <a:spcPct val="120000"/>
                </a:lnSpc>
              </a:pPr>
              <a:r>
                <a:rPr lang="zh-CN" altLang="en-US" sz="2800" b="1" dirty="0">
                  <a:solidFill>
                    <a:schemeClr val="accent1"/>
                  </a:solidFill>
                  <a:latin typeface="微软雅黑" panose="020B0503020204020204" pitchFamily="34" charset="-122"/>
                  <a:ea typeface="微软雅黑" panose="020B0503020204020204" pitchFamily="34" charset="-122"/>
                </a:rPr>
                <a:t>用户信息编码</a:t>
              </a:r>
            </a:p>
          </p:txBody>
        </p:sp>
        <p:sp>
          <p:nvSpPr>
            <p:cNvPr id="46" name="矩形 45"/>
            <p:cNvSpPr/>
            <p:nvPr>
              <p:custDataLst>
                <p:tags r:id="rId9"/>
              </p:custDataLst>
            </p:nvPr>
          </p:nvSpPr>
          <p:spPr>
            <a:xfrm rot="5400000">
              <a:off x="3560" y="7532"/>
              <a:ext cx="120" cy="5437"/>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p:cNvGrpSpPr/>
          <p:nvPr/>
        </p:nvGrpSpPr>
        <p:grpSpPr>
          <a:xfrm>
            <a:off x="4370070" y="3149600"/>
            <a:ext cx="3503930" cy="3398520"/>
            <a:chOff x="901" y="4959"/>
            <a:chExt cx="5518" cy="5352"/>
          </a:xfrm>
        </p:grpSpPr>
        <p:sp>
          <p:nvSpPr>
            <p:cNvPr id="49" name="矩形 48"/>
            <p:cNvSpPr/>
            <p:nvPr>
              <p:custDataLst>
                <p:tags r:id="rId4"/>
              </p:custDataLst>
            </p:nvPr>
          </p:nvSpPr>
          <p:spPr>
            <a:xfrm rot="5400000">
              <a:off x="960" y="4900"/>
              <a:ext cx="5320" cy="5437"/>
            </a:xfrm>
            <a:prstGeom prst="rect">
              <a:avLst/>
            </a:prstGeom>
            <a:gradFill flip="none" rotWithShape="1">
              <a:gsLst>
                <a:gs pos="0">
                  <a:schemeClr val="accent1">
                    <a:alpha val="10000"/>
                  </a:schemeClr>
                </a:gs>
                <a:gs pos="100000">
                  <a:schemeClr val="accent1">
                    <a:alpha val="10000"/>
                  </a:schemeClr>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custDataLst>
                <p:tags r:id="rId5"/>
              </p:custDataLst>
            </p:nvPr>
          </p:nvSpPr>
          <p:spPr>
            <a:xfrm>
              <a:off x="959" y="5807"/>
              <a:ext cx="5460" cy="891"/>
            </a:xfrm>
            <a:prstGeom prst="rect">
              <a:avLst/>
            </a:prstGeom>
            <a:noFill/>
          </p:spPr>
          <p:txBody>
            <a:bodyPr wrap="square" rtlCol="0">
              <a:spAutoFit/>
            </a:bodyPr>
            <a:lstStyle/>
            <a:p>
              <a:pPr algn="ctr">
                <a:lnSpc>
                  <a:spcPct val="120000"/>
                </a:lnSpc>
              </a:pPr>
              <a:r>
                <a:rPr lang="zh-CN" altLang="en-US" sz="2800" b="1" dirty="0">
                  <a:solidFill>
                    <a:schemeClr val="accent1"/>
                  </a:solidFill>
                  <a:latin typeface="微软雅黑" panose="020B0503020204020204" pitchFamily="34" charset="-122"/>
                  <a:ea typeface="微软雅黑" panose="020B0503020204020204" pitchFamily="34" charset="-122"/>
                </a:rPr>
                <a:t>本地部署数据库</a:t>
              </a:r>
            </a:p>
          </p:txBody>
        </p:sp>
        <p:sp>
          <p:nvSpPr>
            <p:cNvPr id="51" name="矩形 50"/>
            <p:cNvSpPr/>
            <p:nvPr>
              <p:custDataLst>
                <p:tags r:id="rId6"/>
              </p:custDataLst>
            </p:nvPr>
          </p:nvSpPr>
          <p:spPr>
            <a:xfrm rot="5400000">
              <a:off x="3560" y="7532"/>
              <a:ext cx="120" cy="5437"/>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3" name="组合 52"/>
          <p:cNvGrpSpPr/>
          <p:nvPr/>
        </p:nvGrpSpPr>
        <p:grpSpPr>
          <a:xfrm>
            <a:off x="8244205" y="3513383"/>
            <a:ext cx="3452495" cy="3054422"/>
            <a:chOff x="901" y="4959"/>
            <a:chExt cx="5437" cy="5352"/>
          </a:xfrm>
        </p:grpSpPr>
        <p:sp>
          <p:nvSpPr>
            <p:cNvPr id="54" name="矩形 53"/>
            <p:cNvSpPr/>
            <p:nvPr>
              <p:custDataLst>
                <p:tags r:id="rId1"/>
              </p:custDataLst>
            </p:nvPr>
          </p:nvSpPr>
          <p:spPr>
            <a:xfrm rot="5400000">
              <a:off x="960" y="4900"/>
              <a:ext cx="5320" cy="5437"/>
            </a:xfrm>
            <a:prstGeom prst="rect">
              <a:avLst/>
            </a:prstGeom>
            <a:gradFill flip="none" rotWithShape="1">
              <a:gsLst>
                <a:gs pos="0">
                  <a:schemeClr val="accent1">
                    <a:alpha val="10000"/>
                  </a:schemeClr>
                </a:gs>
                <a:gs pos="100000">
                  <a:schemeClr val="accent1">
                    <a:alpha val="10000"/>
                  </a:schemeClr>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custDataLst>
                <p:tags r:id="rId2"/>
              </p:custDataLst>
            </p:nvPr>
          </p:nvSpPr>
          <p:spPr>
            <a:xfrm>
              <a:off x="1271" y="5220"/>
              <a:ext cx="4627" cy="891"/>
            </a:xfrm>
            <a:prstGeom prst="rect">
              <a:avLst/>
            </a:prstGeom>
            <a:noFill/>
          </p:spPr>
          <p:txBody>
            <a:bodyPr wrap="square" rtlCol="0">
              <a:spAutoFit/>
            </a:bodyPr>
            <a:lstStyle/>
            <a:p>
              <a:pPr algn="ctr">
                <a:lnSpc>
                  <a:spcPct val="120000"/>
                </a:lnSpc>
              </a:pPr>
              <a:r>
                <a:rPr lang="zh-CN" altLang="en-US" sz="2800" b="1" dirty="0">
                  <a:solidFill>
                    <a:schemeClr val="accent1"/>
                  </a:solidFill>
                  <a:latin typeface="微软雅黑" panose="020B0503020204020204" pitchFamily="34" charset="-122"/>
                  <a:ea typeface="微软雅黑" panose="020B0503020204020204" pitchFamily="34" charset="-122"/>
                </a:rPr>
                <a:t>检索相似用户</a:t>
              </a:r>
            </a:p>
          </p:txBody>
        </p:sp>
        <p:sp>
          <p:nvSpPr>
            <p:cNvPr id="56" name="矩形 55"/>
            <p:cNvSpPr/>
            <p:nvPr>
              <p:custDataLst>
                <p:tags r:id="rId3"/>
              </p:custDataLst>
            </p:nvPr>
          </p:nvSpPr>
          <p:spPr>
            <a:xfrm rot="5400000">
              <a:off x="3560" y="7532"/>
              <a:ext cx="120" cy="5437"/>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文本框 57"/>
          <p:cNvSpPr txBox="1"/>
          <p:nvPr/>
        </p:nvSpPr>
        <p:spPr>
          <a:xfrm>
            <a:off x="717550" y="4633626"/>
            <a:ext cx="2853690" cy="1569660"/>
          </a:xfrm>
          <a:prstGeom prst="rect">
            <a:avLst/>
          </a:prstGeom>
          <a:noFill/>
        </p:spPr>
        <p:txBody>
          <a:bodyPr wrap="square" rtlCol="0">
            <a:spAutoFit/>
          </a:bodyPr>
          <a:lstStyle/>
          <a:p>
            <a:r>
              <a:rPr lang="zh-CN" altLang="en-US" sz="1600" dirty="0">
                <a:latin typeface="Noto Sans SC" panose="020B0200000000000000" charset="-122"/>
                <a:ea typeface="Noto Sans SC" panose="020B0200000000000000" charset="-122"/>
              </a:rPr>
              <a:t>通过重复用户兴趣字段实现隐式加权，再用模型编码为向量存入 </a:t>
            </a:r>
            <a:r>
              <a:rPr lang="en-US" altLang="zh-CN" sz="1600" dirty="0" err="1">
                <a:latin typeface="Noto Sans SC" panose="020B0200000000000000" charset="-122"/>
                <a:ea typeface="Noto Sans SC" panose="020B0200000000000000" charset="-122"/>
              </a:rPr>
              <a:t>Qdrant</a:t>
            </a:r>
            <a:r>
              <a:rPr lang="en-US" altLang="zh-CN" sz="1600" dirty="0">
                <a:latin typeface="Noto Sans SC" panose="020B0200000000000000" charset="-122"/>
                <a:ea typeface="Noto Sans SC" panose="020B0200000000000000" charset="-122"/>
              </a:rPr>
              <a:t>。</a:t>
            </a:r>
          </a:p>
          <a:p>
            <a:r>
              <a:rPr lang="zh-CN" altLang="en-US" sz="1600" dirty="0">
                <a:latin typeface="Noto Sans SC" panose="020B0200000000000000" charset="-122"/>
                <a:ea typeface="Noto Sans SC" panose="020B0200000000000000" charset="-122"/>
              </a:rPr>
              <a:t>这一步是把用户画像文本化、向量化，为后续相似用户检索做准备。</a:t>
            </a:r>
          </a:p>
        </p:txBody>
      </p:sp>
      <p:sp>
        <p:nvSpPr>
          <p:cNvPr id="59" name="文本框 58"/>
          <p:cNvSpPr txBox="1"/>
          <p:nvPr/>
        </p:nvSpPr>
        <p:spPr>
          <a:xfrm>
            <a:off x="4529455" y="4694698"/>
            <a:ext cx="3147695" cy="1323439"/>
          </a:xfrm>
          <a:prstGeom prst="rect">
            <a:avLst/>
          </a:prstGeom>
          <a:noFill/>
        </p:spPr>
        <p:txBody>
          <a:bodyPr wrap="square" rtlCol="0">
            <a:spAutoFit/>
          </a:bodyPr>
          <a:lstStyle/>
          <a:p>
            <a:r>
              <a:rPr lang="zh-CN" altLang="en-US" sz="1600" dirty="0">
                <a:latin typeface="Noto Sans SC" panose="020B0200000000000000" charset="-122"/>
                <a:ea typeface="Noto Sans SC" panose="020B0200000000000000" charset="-122"/>
              </a:rPr>
              <a:t>通过 </a:t>
            </a:r>
            <a:r>
              <a:rPr lang="en-US" altLang="zh-CN" sz="1600" dirty="0">
                <a:latin typeface="Noto Sans SC" panose="020B0200000000000000" charset="-122"/>
                <a:ea typeface="Noto Sans SC" panose="020B0200000000000000" charset="-122"/>
              </a:rPr>
              <a:t>Docker </a:t>
            </a:r>
            <a:r>
              <a:rPr lang="zh-CN" altLang="en-US" sz="1600" dirty="0">
                <a:latin typeface="Noto Sans SC" panose="020B0200000000000000" charset="-122"/>
                <a:ea typeface="Noto Sans SC" panose="020B0200000000000000" charset="-122"/>
              </a:rPr>
              <a:t>命令完成 </a:t>
            </a:r>
            <a:r>
              <a:rPr lang="en-US" altLang="zh-CN" sz="1600" dirty="0" err="1">
                <a:latin typeface="Noto Sans SC" panose="020B0200000000000000" charset="-122"/>
                <a:ea typeface="Noto Sans SC" panose="020B0200000000000000" charset="-122"/>
              </a:rPr>
              <a:t>Qdrant</a:t>
            </a:r>
            <a:r>
              <a:rPr lang="en-US" altLang="zh-CN" sz="1600" dirty="0">
                <a:latin typeface="Noto Sans SC" panose="020B0200000000000000" charset="-122"/>
                <a:ea typeface="Noto Sans SC" panose="020B0200000000000000" charset="-122"/>
              </a:rPr>
              <a:t> </a:t>
            </a:r>
            <a:r>
              <a:rPr lang="zh-CN" altLang="en-US" sz="1600" dirty="0">
                <a:latin typeface="Noto Sans SC" panose="020B0200000000000000" charset="-122"/>
                <a:ea typeface="Noto Sans SC" panose="020B0200000000000000" charset="-122"/>
              </a:rPr>
              <a:t>本地部署，启动向量数据库服务。</a:t>
            </a:r>
          </a:p>
          <a:p>
            <a:r>
              <a:rPr lang="zh-CN" altLang="en-US" sz="1600" dirty="0">
                <a:latin typeface="Noto Sans SC" panose="020B0200000000000000" charset="-122"/>
                <a:ea typeface="Noto Sans SC" panose="020B0200000000000000" charset="-122"/>
              </a:rPr>
              <a:t>这是我们搭建检索环境的操作，确保向量数据能被高效存储和查询。</a:t>
            </a:r>
          </a:p>
        </p:txBody>
      </p:sp>
      <p:sp>
        <p:nvSpPr>
          <p:cNvPr id="60" name="文本框 59"/>
          <p:cNvSpPr txBox="1"/>
          <p:nvPr/>
        </p:nvSpPr>
        <p:spPr>
          <a:xfrm>
            <a:off x="8371424" y="4707266"/>
            <a:ext cx="3210341" cy="1323439"/>
          </a:xfrm>
          <a:prstGeom prst="rect">
            <a:avLst/>
          </a:prstGeom>
          <a:noFill/>
        </p:spPr>
        <p:txBody>
          <a:bodyPr wrap="square" rtlCol="0">
            <a:spAutoFit/>
          </a:bodyPr>
          <a:lstStyle/>
          <a:p>
            <a:r>
              <a:rPr lang="zh-CN" altLang="en-US" sz="1600" dirty="0">
                <a:latin typeface="Noto Sans SC" panose="020B0200000000000000" charset="-122"/>
                <a:ea typeface="Noto Sans SC" panose="020B0200000000000000" charset="-122"/>
              </a:rPr>
              <a:t>目标用户向量进入 </a:t>
            </a:r>
            <a:r>
              <a:rPr lang="en-US" altLang="zh-CN" sz="1600" dirty="0" err="1">
                <a:latin typeface="Noto Sans SC" panose="020B0200000000000000" charset="-122"/>
                <a:ea typeface="Noto Sans SC" panose="020B0200000000000000" charset="-122"/>
              </a:rPr>
              <a:t>Qdrant</a:t>
            </a:r>
            <a:r>
              <a:rPr lang="en-US" altLang="zh-CN" sz="1600" dirty="0">
                <a:latin typeface="Noto Sans SC" panose="020B0200000000000000" charset="-122"/>
                <a:ea typeface="Noto Sans SC" panose="020B0200000000000000" charset="-122"/>
              </a:rPr>
              <a:t>，</a:t>
            </a:r>
            <a:r>
              <a:rPr lang="zh-CN" altLang="en-US" sz="1600" dirty="0">
                <a:latin typeface="Noto Sans SC" panose="020B0200000000000000" charset="-122"/>
                <a:ea typeface="Noto Sans SC" panose="020B0200000000000000" charset="-122"/>
              </a:rPr>
              <a:t>用余弦相似度匹配并返回 </a:t>
            </a:r>
            <a:r>
              <a:rPr lang="en-US" altLang="zh-CN" sz="1600" dirty="0" err="1">
                <a:latin typeface="Noto Sans SC" panose="020B0200000000000000" charset="-122"/>
                <a:ea typeface="Noto Sans SC" panose="020B0200000000000000" charset="-122"/>
              </a:rPr>
              <a:t>TopK</a:t>
            </a:r>
            <a:r>
              <a:rPr lang="en-US" altLang="zh-CN" sz="1600" dirty="0">
                <a:latin typeface="Noto Sans SC" panose="020B0200000000000000" charset="-122"/>
                <a:ea typeface="Noto Sans SC" panose="020B0200000000000000" charset="-122"/>
              </a:rPr>
              <a:t> </a:t>
            </a:r>
            <a:r>
              <a:rPr lang="zh-CN" altLang="en-US" sz="1600" dirty="0">
                <a:latin typeface="Noto Sans SC" panose="020B0200000000000000" charset="-122"/>
                <a:ea typeface="Noto Sans SC" panose="020B0200000000000000" charset="-122"/>
              </a:rPr>
              <a:t>相似用户。</a:t>
            </a:r>
          </a:p>
          <a:p>
            <a:r>
              <a:rPr lang="zh-CN" altLang="en-US" sz="1600" dirty="0">
                <a:latin typeface="Noto Sans SC" panose="020B0200000000000000" charset="-122"/>
                <a:ea typeface="Noto Sans SC" panose="020B0200000000000000" charset="-122"/>
              </a:rPr>
              <a:t>这一步实现核心检索，基于向量距离找到兴趣最匹配的用户。</a:t>
            </a:r>
          </a:p>
        </p:txBody>
      </p:sp>
      <p:pic>
        <p:nvPicPr>
          <p:cNvPr id="62" name="图片 6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430150" y="1602348"/>
            <a:ext cx="3323443" cy="1749381"/>
          </a:xfrm>
          <a:prstGeom prst="rect">
            <a:avLst/>
          </a:prstGeom>
        </p:spPr>
      </p:pic>
      <p:pic>
        <p:nvPicPr>
          <p:cNvPr id="64" name="图片 63"/>
          <p:cNvPicPr>
            <a:picLocks noChangeAspect="1"/>
          </p:cNvPicPr>
          <p:nvPr/>
        </p:nvPicPr>
        <p:blipFill>
          <a:blip r:embed="rId13"/>
          <a:stretch>
            <a:fillRect/>
          </a:stretch>
        </p:blipFill>
        <p:spPr>
          <a:xfrm>
            <a:off x="8343302" y="1340948"/>
            <a:ext cx="3180138" cy="20390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F3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相似用户群体分析</a:t>
            </a:r>
            <a:endParaRPr kumimoji="1" lang="zh-CN" altLang="en-US" b="1" dirty="0">
              <a:latin typeface="微软雅黑" panose="020B0503020204020204" pitchFamily="34" charset="-122"/>
              <a:ea typeface="微软雅黑" panose="020B0503020204020204" pitchFamily="34" charset="-122"/>
            </a:endParaRPr>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3"/>
          <a:stretch>
            <a:fillRect/>
          </a:stretch>
        </p:blipFill>
        <p:spPr>
          <a:xfrm>
            <a:off x="2527797" y="920702"/>
            <a:ext cx="6813579" cy="3663524"/>
          </a:xfrm>
          <a:prstGeom prst="rect">
            <a:avLst/>
          </a:prstGeom>
          <a:ln w="31750">
            <a:solidFill>
              <a:schemeClr val="accent1">
                <a:lumMod val="60000"/>
                <a:lumOff val="40000"/>
              </a:schemeClr>
            </a:solidFill>
          </a:ln>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6723654" y="2131483"/>
            <a:ext cx="5050284" cy="2356066"/>
          </a:xfrm>
          <a:prstGeom prst="rect">
            <a:avLst/>
          </a:prstGeom>
          <a:ln w="28575">
            <a:solidFill>
              <a:schemeClr val="accent1">
                <a:lumMod val="60000"/>
                <a:lumOff val="40000"/>
              </a:schemeClr>
            </a:solidFill>
          </a:ln>
        </p:spPr>
      </p:pic>
      <p:sp>
        <p:nvSpPr>
          <p:cNvPr id="2" name="矩形: 圆角 1"/>
          <p:cNvSpPr/>
          <p:nvPr/>
        </p:nvSpPr>
        <p:spPr>
          <a:xfrm>
            <a:off x="1433483" y="4499398"/>
            <a:ext cx="2961640" cy="1867535"/>
          </a:xfrm>
          <a:prstGeom prst="roundRect">
            <a:avLst>
              <a:gd name="adj" fmla="val 5828"/>
            </a:avLst>
          </a:prstGeom>
          <a:solidFill>
            <a:srgbClr val="F0F5FA"/>
          </a:solidFill>
          <a:ln w="15875">
            <a:solidFill>
              <a:schemeClr val="accent1">
                <a:alpha val="5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4802644" y="4320511"/>
            <a:ext cx="2961640" cy="1665922"/>
          </a:xfrm>
          <a:prstGeom prst="rect">
            <a:avLst/>
          </a:prstGeom>
          <a:ln w="31750">
            <a:solidFill>
              <a:schemeClr val="accent1">
                <a:lumMod val="40000"/>
                <a:lumOff val="60000"/>
              </a:schemeClr>
            </a:solidFill>
          </a:ln>
        </p:spPr>
      </p:pic>
      <p:cxnSp>
        <p:nvCxnSpPr>
          <p:cNvPr id="19" name="直接箭头连接符 18"/>
          <p:cNvCxnSpPr>
            <a:stCxn id="7" idx="1"/>
            <a:endCxn id="7" idx="1"/>
          </p:cNvCxnSpPr>
          <p:nvPr/>
        </p:nvCxnSpPr>
        <p:spPr>
          <a:xfrm>
            <a:off x="2527797" y="2752464"/>
            <a:ext cx="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 name="矩形: 圆角 4"/>
          <p:cNvSpPr/>
          <p:nvPr/>
        </p:nvSpPr>
        <p:spPr>
          <a:xfrm>
            <a:off x="7678420" y="4716149"/>
            <a:ext cx="3649980" cy="1701583"/>
          </a:xfrm>
          <a:prstGeom prst="roundRect">
            <a:avLst>
              <a:gd name="adj" fmla="val 5828"/>
            </a:avLst>
          </a:prstGeom>
          <a:solidFill>
            <a:srgbClr val="F0F5FA"/>
          </a:solidFill>
          <a:ln w="15875">
            <a:solidFill>
              <a:schemeClr val="accent1">
                <a:alpha val="5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五边形 8"/>
          <p:cNvSpPr/>
          <p:nvPr/>
        </p:nvSpPr>
        <p:spPr>
          <a:xfrm rot="5400000" flipV="1">
            <a:off x="9270689" y="4405518"/>
            <a:ext cx="271829" cy="469900"/>
          </a:xfrm>
          <a:prstGeom prst="homePlat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五边形 9"/>
          <p:cNvSpPr/>
          <p:nvPr/>
        </p:nvSpPr>
        <p:spPr>
          <a:xfrm rot="10800000">
            <a:off x="4471224" y="5153472"/>
            <a:ext cx="322580" cy="452120"/>
          </a:xfrm>
          <a:prstGeom prst="homePlat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圆角 3"/>
          <p:cNvSpPr/>
          <p:nvPr/>
        </p:nvSpPr>
        <p:spPr>
          <a:xfrm>
            <a:off x="200847" y="1860016"/>
            <a:ext cx="2018955" cy="1867535"/>
          </a:xfrm>
          <a:prstGeom prst="roundRect">
            <a:avLst>
              <a:gd name="adj" fmla="val 5828"/>
            </a:avLst>
          </a:prstGeom>
          <a:solidFill>
            <a:srgbClr val="F0F5FA"/>
          </a:solidFill>
          <a:ln w="15875">
            <a:solidFill>
              <a:schemeClr val="accent1">
                <a:alpha val="5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五边形 10"/>
          <p:cNvSpPr/>
          <p:nvPr/>
        </p:nvSpPr>
        <p:spPr>
          <a:xfrm rot="10800000">
            <a:off x="2281344" y="2585929"/>
            <a:ext cx="259080" cy="452120"/>
          </a:xfrm>
          <a:prstGeom prst="homePlat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文本框 22"/>
          <p:cNvSpPr txBox="1"/>
          <p:nvPr/>
        </p:nvSpPr>
        <p:spPr>
          <a:xfrm>
            <a:off x="352147" y="2008954"/>
            <a:ext cx="1739086" cy="1815882"/>
          </a:xfrm>
          <a:prstGeom prst="rect">
            <a:avLst/>
          </a:prstGeom>
          <a:noFill/>
        </p:spPr>
        <p:txBody>
          <a:bodyPr wrap="square" rtlCol="0">
            <a:spAutoFit/>
          </a:bodyPr>
          <a:lstStyle/>
          <a:p>
            <a:r>
              <a:rPr lang="zh-CN" altLang="en-US" sz="1600" dirty="0">
                <a:latin typeface="Noto Sans SC" panose="020B0200000000000000" charset="-122"/>
                <a:ea typeface="Noto Sans SC" panose="020B0200000000000000" charset="-122"/>
              </a:rPr>
              <a:t>这是检索功能的界面，能快速查看目标用户的相似用户及匹配度，直观呈现用户匹配数据。</a:t>
            </a:r>
          </a:p>
          <a:p>
            <a:endParaRPr lang="zh-CN" altLang="en-US" sz="1600" dirty="0">
              <a:latin typeface="Noto Sans SC" panose="020B0200000000000000" charset="-122"/>
              <a:ea typeface="Noto Sans SC" panose="020B0200000000000000" charset="-122"/>
            </a:endParaRPr>
          </a:p>
        </p:txBody>
      </p:sp>
      <p:sp>
        <p:nvSpPr>
          <p:cNvPr id="24" name="文本框 23"/>
          <p:cNvSpPr txBox="1"/>
          <p:nvPr/>
        </p:nvSpPr>
        <p:spPr>
          <a:xfrm>
            <a:off x="1600202" y="4665350"/>
            <a:ext cx="2741432" cy="1569660"/>
          </a:xfrm>
          <a:prstGeom prst="rect">
            <a:avLst/>
          </a:prstGeom>
          <a:noFill/>
        </p:spPr>
        <p:txBody>
          <a:bodyPr wrap="square" rtlCol="0">
            <a:spAutoFit/>
          </a:bodyPr>
          <a:lstStyle/>
          <a:p>
            <a:r>
              <a:rPr lang="zh-CN" altLang="en-US" sz="1600" dirty="0">
                <a:latin typeface="Noto Sans SC" panose="020B0200000000000000" charset="-122"/>
                <a:ea typeface="Noto Sans SC" panose="020B0200000000000000" charset="-122"/>
              </a:rPr>
              <a:t>通过</a:t>
            </a:r>
            <a:r>
              <a:rPr lang="zh-CN" altLang="en-US" sz="1600" b="1" dirty="0">
                <a:solidFill>
                  <a:schemeClr val="tx2"/>
                </a:solidFill>
                <a:latin typeface="Noto Sans SC" panose="020B0200000000000000" charset="-122"/>
                <a:ea typeface="Noto Sans SC" panose="020B0200000000000000" charset="-122"/>
              </a:rPr>
              <a:t>词云可视化</a:t>
            </a:r>
            <a:r>
              <a:rPr lang="zh-CN" altLang="en-US" sz="1600" dirty="0">
                <a:latin typeface="Noto Sans SC" panose="020B0200000000000000" charset="-122"/>
                <a:ea typeface="Noto Sans SC" panose="020B0200000000000000" charset="-122"/>
              </a:rPr>
              <a:t>相似用户群体的高频兴趣标签，凸显核心偏好。</a:t>
            </a:r>
          </a:p>
          <a:p>
            <a:r>
              <a:rPr lang="zh-CN" altLang="en-US" sz="1600" dirty="0">
                <a:latin typeface="Noto Sans SC" panose="020B0200000000000000" charset="-122"/>
                <a:ea typeface="Noto Sans SC" panose="020B0200000000000000" charset="-122"/>
              </a:rPr>
              <a:t>词云直观呈现群体共性，帮我们快速抓住这类用户的核心兴趣点。</a:t>
            </a:r>
          </a:p>
        </p:txBody>
      </p:sp>
      <p:sp>
        <p:nvSpPr>
          <p:cNvPr id="25" name="文本框 24"/>
          <p:cNvSpPr txBox="1"/>
          <p:nvPr/>
        </p:nvSpPr>
        <p:spPr>
          <a:xfrm>
            <a:off x="7898715" y="4858830"/>
            <a:ext cx="3363694" cy="1323439"/>
          </a:xfrm>
          <a:prstGeom prst="rect">
            <a:avLst/>
          </a:prstGeom>
          <a:noFill/>
        </p:spPr>
        <p:txBody>
          <a:bodyPr wrap="square" rtlCol="0">
            <a:spAutoFit/>
          </a:bodyPr>
          <a:lstStyle/>
          <a:p>
            <a:r>
              <a:rPr lang="zh-CN" altLang="en-US" sz="1600" dirty="0">
                <a:latin typeface="Noto Sans SC" panose="020B0200000000000000" charset="-122"/>
                <a:ea typeface="Noto Sans SC" panose="020B0200000000000000" charset="-122"/>
              </a:rPr>
              <a:t>用</a:t>
            </a:r>
            <a:r>
              <a:rPr lang="zh-CN" altLang="en-US" sz="1600" b="1" dirty="0">
                <a:solidFill>
                  <a:schemeClr val="tx2"/>
                </a:solidFill>
                <a:latin typeface="Noto Sans SC" panose="020B0200000000000000" charset="-122"/>
                <a:ea typeface="Noto Sans SC" panose="020B0200000000000000" charset="-122"/>
              </a:rPr>
              <a:t>柱状图、饼图分析</a:t>
            </a:r>
            <a:r>
              <a:rPr lang="zh-CN" altLang="en-US" sz="1600" dirty="0">
                <a:latin typeface="Noto Sans SC" panose="020B0200000000000000" charset="-122"/>
                <a:ea typeface="Noto Sans SC" panose="020B0200000000000000" charset="-122"/>
              </a:rPr>
              <a:t>相似用户的标签与领域分布，量化群体特征。</a:t>
            </a:r>
          </a:p>
          <a:p>
            <a:r>
              <a:rPr lang="zh-CN" altLang="en-US" sz="1600" dirty="0">
                <a:latin typeface="Noto Sans SC" panose="020B0200000000000000" charset="-122"/>
                <a:ea typeface="Noto Sans SC" panose="020B0200000000000000" charset="-122"/>
              </a:rPr>
              <a:t>这是群体画像分析，用数据拆解相似用户的兴趣结构，为后续推荐提供依据。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F4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个性化视频推荐</a:t>
            </a: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	</a:t>
            </a:r>
            <a:endParaRPr kumimoji="1" lang="zh-CN" altLang="en-US" b="1" dirty="0">
              <a:latin typeface="微软雅黑" panose="020B0503020204020204" pitchFamily="34" charset="-122"/>
              <a:ea typeface="微软雅黑" panose="020B0503020204020204" pitchFamily="34" charset="-122"/>
            </a:endParaRPr>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矩形: 圆角 4"/>
          <p:cNvSpPr/>
          <p:nvPr/>
        </p:nvSpPr>
        <p:spPr>
          <a:xfrm>
            <a:off x="565476" y="1112944"/>
            <a:ext cx="4843840" cy="4980940"/>
          </a:xfrm>
          <a:prstGeom prst="roundRect">
            <a:avLst>
              <a:gd name="adj" fmla="val 2389"/>
            </a:avLst>
          </a:prstGeom>
          <a:solidFill>
            <a:schemeClr val="accent1">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731808" y="1280584"/>
            <a:ext cx="4549276" cy="4743450"/>
          </a:xfrm>
          <a:prstGeom prst="rect">
            <a:avLst/>
          </a:prstGeom>
          <a:noFill/>
        </p:spPr>
        <p:txBody>
          <a:bodyPr wrap="square" rtlCol="0">
            <a:noAutofit/>
          </a:bodyPr>
          <a:lstStyle/>
          <a:p>
            <a:pPr>
              <a:lnSpc>
                <a:spcPct val="150000"/>
              </a:lnSpc>
            </a:pPr>
            <a:r>
              <a:rPr lang="zh-CN" altLang="en-US" sz="1800" b="1" dirty="0">
                <a:solidFill>
                  <a:schemeClr val="bg2">
                    <a:lumMod val="50000"/>
                  </a:schemeClr>
                </a:solidFill>
                <a:latin typeface="Noto Sans SC" panose="020B0200000000000000" charset="-122"/>
                <a:ea typeface="Noto Sans SC" panose="020B0200000000000000" charset="-122"/>
              </a:rPr>
              <a:t>第一步：离线构建视频向量索引</a:t>
            </a:r>
          </a:p>
          <a:p>
            <a:pPr>
              <a:lnSpc>
                <a:spcPct val="150000"/>
              </a:lnSpc>
            </a:pPr>
            <a:r>
              <a:rPr lang="zh-CN" altLang="en-US" sz="1800" dirty="0">
                <a:latin typeface="Noto Sans SC" panose="020B0200000000000000" charset="-122"/>
                <a:ea typeface="Noto Sans SC" panose="020B0200000000000000" charset="-122"/>
              </a:rPr>
              <a:t>读取视频元数据，拼接文本信息，用模型编码成向量后存入 </a:t>
            </a:r>
            <a:r>
              <a:rPr lang="en-US" altLang="zh-CN" sz="1800" dirty="0" err="1">
                <a:latin typeface="Noto Sans SC" panose="020B0200000000000000" charset="-122"/>
                <a:ea typeface="Noto Sans SC" panose="020B0200000000000000" charset="-122"/>
              </a:rPr>
              <a:t>Qdrant</a:t>
            </a:r>
            <a:r>
              <a:rPr lang="en-US" altLang="zh-CN" sz="1800" dirty="0">
                <a:latin typeface="Noto Sans SC" panose="020B0200000000000000" charset="-122"/>
                <a:ea typeface="Noto Sans SC" panose="020B0200000000000000" charset="-122"/>
              </a:rPr>
              <a:t>，</a:t>
            </a:r>
            <a:r>
              <a:rPr lang="zh-CN" altLang="en-US" sz="1800" dirty="0">
                <a:latin typeface="Noto Sans SC" panose="020B0200000000000000" charset="-122"/>
                <a:ea typeface="Noto Sans SC" panose="020B0200000000000000" charset="-122"/>
              </a:rPr>
              <a:t>完成基础索引搭建。</a:t>
            </a:r>
          </a:p>
          <a:p>
            <a:pPr>
              <a:lnSpc>
                <a:spcPct val="150000"/>
              </a:lnSpc>
            </a:pPr>
            <a:r>
              <a:rPr lang="zh-CN" altLang="en-US" sz="1800" b="1" dirty="0">
                <a:solidFill>
                  <a:schemeClr val="bg2">
                    <a:lumMod val="50000"/>
                  </a:schemeClr>
                </a:solidFill>
                <a:latin typeface="Noto Sans SC" panose="020B0200000000000000" charset="-122"/>
                <a:ea typeface="Noto Sans SC" panose="020B0200000000000000" charset="-122"/>
              </a:rPr>
              <a:t>第二步：定义隐式加权策略</a:t>
            </a:r>
          </a:p>
          <a:p>
            <a:pPr>
              <a:lnSpc>
                <a:spcPct val="150000"/>
              </a:lnSpc>
            </a:pPr>
            <a:r>
              <a:rPr lang="zh-CN" altLang="en-US" sz="1800" dirty="0">
                <a:latin typeface="Noto Sans SC" panose="020B0200000000000000" charset="-122"/>
                <a:ea typeface="Noto Sans SC" panose="020B0200000000000000" charset="-122"/>
              </a:rPr>
              <a:t>通过词频给主领域、兴趣领域、标签设置不同重复次数，实现无模型改动的权重区分。</a:t>
            </a:r>
          </a:p>
          <a:p>
            <a:pPr>
              <a:lnSpc>
                <a:spcPct val="150000"/>
              </a:lnSpc>
            </a:pPr>
            <a:r>
              <a:rPr lang="zh-CN" altLang="en-US" sz="1800" b="1" dirty="0">
                <a:solidFill>
                  <a:schemeClr val="bg2">
                    <a:lumMod val="50000"/>
                  </a:schemeClr>
                </a:solidFill>
                <a:latin typeface="Noto Sans SC" panose="020B0200000000000000" charset="-122"/>
                <a:ea typeface="Noto Sans SC" panose="020B0200000000000000" charset="-122"/>
              </a:rPr>
              <a:t>第三步：在线生成个性化推荐</a:t>
            </a:r>
          </a:p>
          <a:p>
            <a:pPr>
              <a:lnSpc>
                <a:spcPct val="150000"/>
              </a:lnSpc>
            </a:pPr>
            <a:r>
              <a:rPr lang="zh-CN" altLang="en-US" sz="1800" dirty="0">
                <a:latin typeface="Noto Sans SC" panose="020B0200000000000000" charset="-122"/>
                <a:ea typeface="Noto Sans SC" panose="020B0200000000000000" charset="-122"/>
              </a:rPr>
              <a:t>按加权规则拼接用户文本，向量召回候选视频，过滤已看内容，再经多样性处理，输出最终推荐列表。</a:t>
            </a:r>
          </a:p>
          <a:p>
            <a:pPr>
              <a:lnSpc>
                <a:spcPct val="150000"/>
              </a:lnSpc>
            </a:pPr>
            <a:endParaRPr lang="zh-CN" altLang="en-US" sz="1800" dirty="0">
              <a:latin typeface="Noto Sans SC" panose="020B0200000000000000" charset="-122"/>
              <a:ea typeface="Noto Sans SC" panose="020B0200000000000000"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55552" y="1328431"/>
            <a:ext cx="5873040" cy="41417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16043" y="861184"/>
            <a:ext cx="5880372" cy="3063650"/>
          </a:xfrm>
          <a:prstGeom prst="rect">
            <a:avLst/>
          </a:prstGeom>
        </p:spPr>
      </p:pic>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F4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个性化视频推荐</a:t>
            </a: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	</a:t>
            </a:r>
            <a:endParaRPr kumimoji="1" lang="zh-CN" altLang="en-US" b="1" dirty="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6046891" y="1837267"/>
            <a:ext cx="5577841" cy="1401003"/>
            <a:chOff x="1409506" y="2917510"/>
            <a:chExt cx="3248888" cy="3262589"/>
          </a:xfrm>
        </p:grpSpPr>
        <p:sp>
          <p:nvSpPr>
            <p:cNvPr id="20" name="平行四边形 12"/>
            <p:cNvSpPr/>
            <p:nvPr/>
          </p:nvSpPr>
          <p:spPr>
            <a:xfrm>
              <a:off x="1478737" y="2996503"/>
              <a:ext cx="3179657" cy="3183596"/>
            </a:xfrm>
            <a:custGeom>
              <a:avLst/>
              <a:gdLst>
                <a:gd name="connsiteX0" fmla="*/ 3279 w 6947135"/>
                <a:gd name="connsiteY0" fmla="*/ 2404296 h 2538490"/>
                <a:gd name="connsiteX1" fmla="*/ 583902 w 6947135"/>
                <a:gd name="connsiteY1" fmla="*/ 81806 h 2538490"/>
                <a:gd name="connsiteX2" fmla="*/ 688678 w 6947135"/>
                <a:gd name="connsiteY2" fmla="*/ 0 h 2538490"/>
                <a:gd name="connsiteX3" fmla="*/ 6839081 w 6947135"/>
                <a:gd name="connsiteY3" fmla="*/ 0 h 2538490"/>
                <a:gd name="connsiteX4" fmla="*/ 6943857 w 6947135"/>
                <a:gd name="connsiteY4" fmla="*/ 134194 h 2538490"/>
                <a:gd name="connsiteX5" fmla="*/ 6363235 w 6947135"/>
                <a:gd name="connsiteY5" fmla="*/ 2456684 h 2538490"/>
                <a:gd name="connsiteX6" fmla="*/ 6258459 w 6947135"/>
                <a:gd name="connsiteY6" fmla="*/ 2538490 h 2538490"/>
                <a:gd name="connsiteX7" fmla="*/ 108055 w 6947135"/>
                <a:gd name="connsiteY7" fmla="*/ 2538490 h 2538490"/>
                <a:gd name="connsiteX8" fmla="*/ 3279 w 6947135"/>
                <a:gd name="connsiteY8" fmla="*/ 2404296 h 253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47135" h="2538490">
                  <a:moveTo>
                    <a:pt x="3279" y="2404296"/>
                  </a:moveTo>
                  <a:lnTo>
                    <a:pt x="583902" y="81806"/>
                  </a:lnTo>
                  <a:cubicBezTo>
                    <a:pt x="595928" y="33704"/>
                    <a:pt x="639095" y="0"/>
                    <a:pt x="688678" y="0"/>
                  </a:cubicBezTo>
                  <a:lnTo>
                    <a:pt x="6839081" y="0"/>
                  </a:lnTo>
                  <a:cubicBezTo>
                    <a:pt x="6909350" y="0"/>
                    <a:pt x="6960899" y="66023"/>
                    <a:pt x="6943857" y="134194"/>
                  </a:cubicBezTo>
                  <a:lnTo>
                    <a:pt x="6363235" y="2456684"/>
                  </a:lnTo>
                  <a:cubicBezTo>
                    <a:pt x="6351209" y="2504786"/>
                    <a:pt x="6308042" y="2538490"/>
                    <a:pt x="6258459" y="2538490"/>
                  </a:cubicBezTo>
                  <a:lnTo>
                    <a:pt x="108055" y="2538490"/>
                  </a:lnTo>
                  <a:cubicBezTo>
                    <a:pt x="37786" y="2538490"/>
                    <a:pt x="-13763" y="2472466"/>
                    <a:pt x="3279" y="2404296"/>
                  </a:cubicBezTo>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21" name="平行四边形 12"/>
            <p:cNvSpPr/>
            <p:nvPr/>
          </p:nvSpPr>
          <p:spPr>
            <a:xfrm>
              <a:off x="1409506" y="2917510"/>
              <a:ext cx="3179657" cy="3183596"/>
            </a:xfrm>
            <a:custGeom>
              <a:avLst/>
              <a:gdLst>
                <a:gd name="connsiteX0" fmla="*/ 3279 w 6947135"/>
                <a:gd name="connsiteY0" fmla="*/ 2404296 h 2538490"/>
                <a:gd name="connsiteX1" fmla="*/ 583902 w 6947135"/>
                <a:gd name="connsiteY1" fmla="*/ 81806 h 2538490"/>
                <a:gd name="connsiteX2" fmla="*/ 688678 w 6947135"/>
                <a:gd name="connsiteY2" fmla="*/ 0 h 2538490"/>
                <a:gd name="connsiteX3" fmla="*/ 6839081 w 6947135"/>
                <a:gd name="connsiteY3" fmla="*/ 0 h 2538490"/>
                <a:gd name="connsiteX4" fmla="*/ 6943857 w 6947135"/>
                <a:gd name="connsiteY4" fmla="*/ 134194 h 2538490"/>
                <a:gd name="connsiteX5" fmla="*/ 6363235 w 6947135"/>
                <a:gd name="connsiteY5" fmla="*/ 2456684 h 2538490"/>
                <a:gd name="connsiteX6" fmla="*/ 6258459 w 6947135"/>
                <a:gd name="connsiteY6" fmla="*/ 2538490 h 2538490"/>
                <a:gd name="connsiteX7" fmla="*/ 108055 w 6947135"/>
                <a:gd name="connsiteY7" fmla="*/ 2538490 h 2538490"/>
                <a:gd name="connsiteX8" fmla="*/ 3279 w 6947135"/>
                <a:gd name="connsiteY8" fmla="*/ 2404296 h 253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47135" h="2538490">
                  <a:moveTo>
                    <a:pt x="3279" y="2404296"/>
                  </a:moveTo>
                  <a:lnTo>
                    <a:pt x="583902" y="81806"/>
                  </a:lnTo>
                  <a:cubicBezTo>
                    <a:pt x="595928" y="33704"/>
                    <a:pt x="639095" y="0"/>
                    <a:pt x="688678" y="0"/>
                  </a:cubicBezTo>
                  <a:lnTo>
                    <a:pt x="6839081" y="0"/>
                  </a:lnTo>
                  <a:cubicBezTo>
                    <a:pt x="6909350" y="0"/>
                    <a:pt x="6960899" y="66023"/>
                    <a:pt x="6943857" y="134194"/>
                  </a:cubicBezTo>
                  <a:lnTo>
                    <a:pt x="6363235" y="2456684"/>
                  </a:lnTo>
                  <a:cubicBezTo>
                    <a:pt x="6351209" y="2504786"/>
                    <a:pt x="6308042" y="2538490"/>
                    <a:pt x="6258459" y="2538490"/>
                  </a:cubicBezTo>
                  <a:lnTo>
                    <a:pt x="108055" y="2538490"/>
                  </a:lnTo>
                  <a:cubicBezTo>
                    <a:pt x="37786" y="2538490"/>
                    <a:pt x="-13763" y="2472466"/>
                    <a:pt x="3279" y="2404296"/>
                  </a:cubicBezTo>
                </a:path>
              </a:pathLst>
            </a:custGeom>
            <a:solidFill>
              <a:schemeClr val="bg1"/>
            </a:solidFill>
            <a:ln>
              <a:solidFill>
                <a:schemeClr val="accent1"/>
              </a:solidFill>
            </a:ln>
            <a:effectLst>
              <a:outerShdw blurRad="2413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grpSp>
      <p:pic>
        <p:nvPicPr>
          <p:cNvPr id="14" name="图片 13"/>
          <p:cNvPicPr>
            <a:picLocks noChangeAspect="1"/>
          </p:cNvPicPr>
          <p:nvPr/>
        </p:nvPicPr>
        <p:blipFill>
          <a:blip r:embed="rId3"/>
          <a:stretch>
            <a:fillRect/>
          </a:stretch>
        </p:blipFill>
        <p:spPr>
          <a:xfrm>
            <a:off x="397443" y="3902489"/>
            <a:ext cx="5649448" cy="1295433"/>
          </a:xfrm>
          <a:prstGeom prst="rect">
            <a:avLst/>
          </a:prstGeom>
        </p:spPr>
      </p:pic>
      <p:sp>
        <p:nvSpPr>
          <p:cNvPr id="6" name="文本框 5"/>
          <p:cNvSpPr txBox="1"/>
          <p:nvPr/>
        </p:nvSpPr>
        <p:spPr>
          <a:xfrm>
            <a:off x="6620933" y="2018529"/>
            <a:ext cx="4304976" cy="1004394"/>
          </a:xfrm>
          <a:prstGeom prst="rect">
            <a:avLst/>
          </a:prstGeom>
          <a:noFill/>
        </p:spPr>
        <p:txBody>
          <a:bodyPr wrap="square" rtlCol="0">
            <a:noAutofit/>
          </a:bodyPr>
          <a:lstStyle/>
          <a:p>
            <a:r>
              <a:rPr lang="en-US" altLang="zh-CN" sz="1600" dirty="0">
                <a:latin typeface="Noto Sans SC" panose="020B0200000000000000" charset="-122"/>
                <a:ea typeface="Noto Sans SC" panose="020B0200000000000000" charset="-122"/>
              </a:rPr>
              <a:t>        </a:t>
            </a:r>
            <a:r>
              <a:rPr lang="zh-CN" altLang="en-US" sz="1600" dirty="0">
                <a:latin typeface="Noto Sans SC" panose="020B0200000000000000" charset="-122"/>
                <a:ea typeface="Noto Sans SC" panose="020B0200000000000000" charset="-122"/>
              </a:rPr>
              <a:t>表格展示</a:t>
            </a:r>
            <a:r>
              <a:rPr lang="zh-CN" altLang="en-US" sz="1600" b="1" dirty="0">
                <a:solidFill>
                  <a:schemeClr val="bg2">
                    <a:lumMod val="50000"/>
                  </a:schemeClr>
                </a:solidFill>
                <a:latin typeface="Noto Sans SC" panose="020B0200000000000000" charset="-122"/>
                <a:ea typeface="Noto Sans SC" panose="020B0200000000000000" charset="-122"/>
              </a:rPr>
              <a:t>推荐结果</a:t>
            </a:r>
            <a:r>
              <a:rPr lang="zh-CN" altLang="en-US" sz="1600" dirty="0">
                <a:latin typeface="Noto Sans SC" panose="020B0200000000000000" charset="-122"/>
                <a:ea typeface="Noto Sans SC" panose="020B0200000000000000" charset="-122"/>
              </a:rPr>
              <a:t>的详细数据</a:t>
            </a:r>
            <a:r>
              <a:rPr lang="zh-CN" altLang="en-US" sz="1600">
                <a:latin typeface="Noto Sans SC" panose="020B0200000000000000" charset="-122"/>
                <a:ea typeface="Noto Sans SC" panose="020B0200000000000000" charset="-122"/>
              </a:rPr>
              <a:t>，包括历史观看和推荐的视频 </a:t>
            </a:r>
            <a:r>
              <a:rPr lang="en-US" altLang="zh-CN" sz="1600" dirty="0">
                <a:latin typeface="Noto Sans SC" panose="020B0200000000000000" charset="-122"/>
                <a:ea typeface="Noto Sans SC" panose="020B0200000000000000" charset="-122"/>
              </a:rPr>
              <a:t>ID、</a:t>
            </a:r>
            <a:r>
              <a:rPr lang="zh-CN" altLang="en-US" sz="1600" dirty="0">
                <a:latin typeface="Noto Sans SC" panose="020B0200000000000000" charset="-122"/>
                <a:ea typeface="Noto Sans SC" panose="020B0200000000000000" charset="-122"/>
              </a:rPr>
              <a:t>视频描述等。</a:t>
            </a:r>
          </a:p>
          <a:p>
            <a:r>
              <a:rPr lang="zh-CN" altLang="en-US" sz="1600" dirty="0">
                <a:latin typeface="Noto Sans SC" panose="020B0200000000000000" charset="-122"/>
                <a:ea typeface="Noto Sans SC" panose="020B0200000000000000" charset="-122"/>
              </a:rPr>
              <a:t>        推荐结果的详细数据支撑，便于技术人员分析和调优推荐算法。</a:t>
            </a: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4900728" y="3619730"/>
            <a:ext cx="7130141" cy="2580915"/>
          </a:xfrm>
          <a:prstGeom prst="rect">
            <a:avLst/>
          </a:prstGeom>
        </p:spPr>
      </p:pic>
      <p:grpSp>
        <p:nvGrpSpPr>
          <p:cNvPr id="9" name="组合 8"/>
          <p:cNvGrpSpPr/>
          <p:nvPr/>
        </p:nvGrpSpPr>
        <p:grpSpPr>
          <a:xfrm>
            <a:off x="158515" y="5320085"/>
            <a:ext cx="5129696" cy="1169398"/>
            <a:chOff x="1409506" y="2917510"/>
            <a:chExt cx="3248888" cy="3262589"/>
          </a:xfrm>
        </p:grpSpPr>
        <p:sp>
          <p:nvSpPr>
            <p:cNvPr id="17" name="平行四边形 12"/>
            <p:cNvSpPr/>
            <p:nvPr/>
          </p:nvSpPr>
          <p:spPr>
            <a:xfrm>
              <a:off x="1478737" y="2996503"/>
              <a:ext cx="3179657" cy="3183596"/>
            </a:xfrm>
            <a:custGeom>
              <a:avLst/>
              <a:gdLst>
                <a:gd name="connsiteX0" fmla="*/ 3279 w 6947135"/>
                <a:gd name="connsiteY0" fmla="*/ 2404296 h 2538490"/>
                <a:gd name="connsiteX1" fmla="*/ 583902 w 6947135"/>
                <a:gd name="connsiteY1" fmla="*/ 81806 h 2538490"/>
                <a:gd name="connsiteX2" fmla="*/ 688678 w 6947135"/>
                <a:gd name="connsiteY2" fmla="*/ 0 h 2538490"/>
                <a:gd name="connsiteX3" fmla="*/ 6839081 w 6947135"/>
                <a:gd name="connsiteY3" fmla="*/ 0 h 2538490"/>
                <a:gd name="connsiteX4" fmla="*/ 6943857 w 6947135"/>
                <a:gd name="connsiteY4" fmla="*/ 134194 h 2538490"/>
                <a:gd name="connsiteX5" fmla="*/ 6363235 w 6947135"/>
                <a:gd name="connsiteY5" fmla="*/ 2456684 h 2538490"/>
                <a:gd name="connsiteX6" fmla="*/ 6258459 w 6947135"/>
                <a:gd name="connsiteY6" fmla="*/ 2538490 h 2538490"/>
                <a:gd name="connsiteX7" fmla="*/ 108055 w 6947135"/>
                <a:gd name="connsiteY7" fmla="*/ 2538490 h 2538490"/>
                <a:gd name="connsiteX8" fmla="*/ 3279 w 6947135"/>
                <a:gd name="connsiteY8" fmla="*/ 2404296 h 253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47135" h="2538490">
                  <a:moveTo>
                    <a:pt x="3279" y="2404296"/>
                  </a:moveTo>
                  <a:lnTo>
                    <a:pt x="583902" y="81806"/>
                  </a:lnTo>
                  <a:cubicBezTo>
                    <a:pt x="595928" y="33704"/>
                    <a:pt x="639095" y="0"/>
                    <a:pt x="688678" y="0"/>
                  </a:cubicBezTo>
                  <a:lnTo>
                    <a:pt x="6839081" y="0"/>
                  </a:lnTo>
                  <a:cubicBezTo>
                    <a:pt x="6909350" y="0"/>
                    <a:pt x="6960899" y="66023"/>
                    <a:pt x="6943857" y="134194"/>
                  </a:cubicBezTo>
                  <a:lnTo>
                    <a:pt x="6363235" y="2456684"/>
                  </a:lnTo>
                  <a:cubicBezTo>
                    <a:pt x="6351209" y="2504786"/>
                    <a:pt x="6308042" y="2538490"/>
                    <a:pt x="6258459" y="2538490"/>
                  </a:cubicBezTo>
                  <a:lnTo>
                    <a:pt x="108055" y="2538490"/>
                  </a:lnTo>
                  <a:cubicBezTo>
                    <a:pt x="37786" y="2538490"/>
                    <a:pt x="-13763" y="2472466"/>
                    <a:pt x="3279" y="2404296"/>
                  </a:cubicBezTo>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8" name="平行四边形 12"/>
            <p:cNvSpPr/>
            <p:nvPr/>
          </p:nvSpPr>
          <p:spPr>
            <a:xfrm>
              <a:off x="1409506" y="2917510"/>
              <a:ext cx="3179657" cy="3183596"/>
            </a:xfrm>
            <a:custGeom>
              <a:avLst/>
              <a:gdLst>
                <a:gd name="connsiteX0" fmla="*/ 3279 w 6947135"/>
                <a:gd name="connsiteY0" fmla="*/ 2404296 h 2538490"/>
                <a:gd name="connsiteX1" fmla="*/ 583902 w 6947135"/>
                <a:gd name="connsiteY1" fmla="*/ 81806 h 2538490"/>
                <a:gd name="connsiteX2" fmla="*/ 688678 w 6947135"/>
                <a:gd name="connsiteY2" fmla="*/ 0 h 2538490"/>
                <a:gd name="connsiteX3" fmla="*/ 6839081 w 6947135"/>
                <a:gd name="connsiteY3" fmla="*/ 0 h 2538490"/>
                <a:gd name="connsiteX4" fmla="*/ 6943857 w 6947135"/>
                <a:gd name="connsiteY4" fmla="*/ 134194 h 2538490"/>
                <a:gd name="connsiteX5" fmla="*/ 6363235 w 6947135"/>
                <a:gd name="connsiteY5" fmla="*/ 2456684 h 2538490"/>
                <a:gd name="connsiteX6" fmla="*/ 6258459 w 6947135"/>
                <a:gd name="connsiteY6" fmla="*/ 2538490 h 2538490"/>
                <a:gd name="connsiteX7" fmla="*/ 108055 w 6947135"/>
                <a:gd name="connsiteY7" fmla="*/ 2538490 h 2538490"/>
                <a:gd name="connsiteX8" fmla="*/ 3279 w 6947135"/>
                <a:gd name="connsiteY8" fmla="*/ 2404296 h 253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47135" h="2538490">
                  <a:moveTo>
                    <a:pt x="3279" y="2404296"/>
                  </a:moveTo>
                  <a:lnTo>
                    <a:pt x="583902" y="81806"/>
                  </a:lnTo>
                  <a:cubicBezTo>
                    <a:pt x="595928" y="33704"/>
                    <a:pt x="639095" y="0"/>
                    <a:pt x="688678" y="0"/>
                  </a:cubicBezTo>
                  <a:lnTo>
                    <a:pt x="6839081" y="0"/>
                  </a:lnTo>
                  <a:cubicBezTo>
                    <a:pt x="6909350" y="0"/>
                    <a:pt x="6960899" y="66023"/>
                    <a:pt x="6943857" y="134194"/>
                  </a:cubicBezTo>
                  <a:lnTo>
                    <a:pt x="6363235" y="2456684"/>
                  </a:lnTo>
                  <a:cubicBezTo>
                    <a:pt x="6351209" y="2504786"/>
                    <a:pt x="6308042" y="2538490"/>
                    <a:pt x="6258459" y="2538490"/>
                  </a:cubicBezTo>
                  <a:lnTo>
                    <a:pt x="108055" y="2538490"/>
                  </a:lnTo>
                  <a:cubicBezTo>
                    <a:pt x="37786" y="2538490"/>
                    <a:pt x="-13763" y="2472466"/>
                    <a:pt x="3279" y="2404296"/>
                  </a:cubicBezTo>
                </a:path>
              </a:pathLst>
            </a:custGeom>
            <a:solidFill>
              <a:schemeClr val="bg1"/>
            </a:solidFill>
            <a:ln>
              <a:solidFill>
                <a:schemeClr val="accent1"/>
              </a:solidFill>
            </a:ln>
            <a:effectLst>
              <a:outerShdw blurRad="2413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grpSp>
      <p:sp>
        <p:nvSpPr>
          <p:cNvPr id="7" name="文本框 6"/>
          <p:cNvSpPr txBox="1"/>
          <p:nvPr/>
        </p:nvSpPr>
        <p:spPr>
          <a:xfrm>
            <a:off x="574107" y="5612397"/>
            <a:ext cx="4326621" cy="584775"/>
          </a:xfrm>
          <a:prstGeom prst="rect">
            <a:avLst/>
          </a:prstGeom>
          <a:noFill/>
        </p:spPr>
        <p:txBody>
          <a:bodyPr wrap="square" rtlCol="0">
            <a:spAutoFit/>
          </a:bodyPr>
          <a:lstStyle/>
          <a:p>
            <a:r>
              <a:rPr lang="zh-CN" altLang="en-US" sz="1600" dirty="0">
                <a:latin typeface="Noto Sans SC" panose="020B0200000000000000" charset="-122"/>
                <a:ea typeface="Noto Sans SC" panose="020B0200000000000000" charset="-122"/>
              </a:rPr>
              <a:t>        这是推荐系统的核心界面，直观呈现为用户生成的推荐列表及其领域分布柱状图。</a:t>
            </a:r>
          </a:p>
        </p:txBody>
      </p:sp>
      <p:sp>
        <p:nvSpPr>
          <p:cNvPr id="8" name="流程图: 合并 7"/>
          <p:cNvSpPr/>
          <p:nvPr/>
        </p:nvSpPr>
        <p:spPr>
          <a:xfrm>
            <a:off x="2969080" y="5197922"/>
            <a:ext cx="385445" cy="311150"/>
          </a:xfrm>
          <a:prstGeom prst="flowChartMerg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流程图: 合并 12"/>
          <p:cNvSpPr/>
          <p:nvPr/>
        </p:nvSpPr>
        <p:spPr>
          <a:xfrm rot="10800000">
            <a:off x="8535473" y="3204349"/>
            <a:ext cx="385445" cy="390248"/>
          </a:xfrm>
          <a:prstGeom prst="flowChartMerge">
            <a:avLst/>
          </a:prstGeom>
          <a:solidFill>
            <a:schemeClr val="bg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矩形: 圆角 8"/>
          <p:cNvSpPr txBox="1"/>
          <p:nvPr/>
        </p:nvSpPr>
        <p:spPr>
          <a:xfrm rot="5400000">
            <a:off x="200660" y="956945"/>
            <a:ext cx="5591810" cy="5360035"/>
          </a:xfrm>
          <a:prstGeom prst="roundRect">
            <a:avLst>
              <a:gd name="adj" fmla="val 7766"/>
            </a:avLst>
          </a:prstGeom>
          <a:solidFill>
            <a:schemeClr val="bg1"/>
          </a:solidFill>
          <a:ln w="12700" cap="sq">
            <a:gradFill>
              <a:gsLst>
                <a:gs pos="0">
                  <a:schemeClr val="accent1">
                    <a:lumMod val="75000"/>
                  </a:schemeClr>
                </a:gs>
                <a:gs pos="100000">
                  <a:schemeClr val="accent1"/>
                </a:gs>
              </a:gsLst>
              <a:lin ang="15000000" scaled="0"/>
            </a:gradFill>
            <a:miter/>
          </a:ln>
          <a:effectLst>
            <a:outerShdw blurRad="152400" dist="38100" dir="2700000" algn="tl" rotWithShape="0">
              <a:schemeClr val="accent1">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F5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视频热度预测</a:t>
            </a:r>
            <a:endParaRPr kumimoji="1" lang="zh-CN" altLang="en-US" b="1" dirty="0">
              <a:latin typeface="微软雅黑" panose="020B0503020204020204" pitchFamily="34" charset="-122"/>
              <a:ea typeface="微软雅黑" panose="020B0503020204020204" pitchFamily="34" charset="-122"/>
            </a:endParaRPr>
          </a:p>
        </p:txBody>
      </p:sp>
      <p:sp>
        <p:nvSpPr>
          <p:cNvPr id="15" name="AutoShape 4"/>
          <p:cNvSpPr/>
          <p:nvPr/>
        </p:nvSpPr>
        <p:spPr>
          <a:xfrm>
            <a:off x="6010801" y="891728"/>
            <a:ext cx="5902716" cy="1276349"/>
          </a:xfrm>
          <a:prstGeom prst="roundRect">
            <a:avLst>
              <a:gd name="adj" fmla="val 4615"/>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dirty="0"/>
          </a:p>
        </p:txBody>
      </p:sp>
      <p:pic>
        <p:nvPicPr>
          <p:cNvPr id="16"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41001" y="1066352"/>
            <a:ext cx="406400" cy="406400"/>
          </a:xfrm>
          <a:prstGeom prst="rect">
            <a:avLst/>
          </a:prstGeom>
        </p:spPr>
      </p:pic>
      <p:sp>
        <p:nvSpPr>
          <p:cNvPr id="17" name="AutoShape 6"/>
          <p:cNvSpPr/>
          <p:nvPr/>
        </p:nvSpPr>
        <p:spPr>
          <a:xfrm>
            <a:off x="6912501" y="1110926"/>
            <a:ext cx="1989880" cy="25775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dirty="0">
                <a:solidFill>
                  <a:srgbClr val="4A90E2"/>
                </a:solidFill>
                <a:latin typeface="Noto Sans SC" panose="020B0200000000000000" charset="-122"/>
                <a:ea typeface="Noto Sans SC" panose="020B0200000000000000" charset="-122"/>
                <a:sym typeface="Noto Sans SC" panose="020B0200000000000000" charset="-122"/>
              </a:rPr>
              <a:t>目标与核心思想</a:t>
            </a:r>
            <a:endParaRPr lang="en-US" sz="1100" dirty="0"/>
          </a:p>
        </p:txBody>
      </p:sp>
      <p:sp>
        <p:nvSpPr>
          <p:cNvPr id="18" name="AutoShape 7"/>
          <p:cNvSpPr/>
          <p:nvPr/>
        </p:nvSpPr>
        <p:spPr>
          <a:xfrm>
            <a:off x="6347460" y="1470660"/>
            <a:ext cx="5394325" cy="697230"/>
          </a:xfrm>
          <a:prstGeom prst="rect">
            <a:avLst/>
          </a:prstGeom>
          <a:noFill/>
          <a:ln w="12700" cap="flat" cmpd="sng">
            <a:noFill/>
            <a:prstDash val="solid"/>
            <a:round/>
          </a:ln>
        </p:spPr>
        <p:txBody>
          <a:bodyPr vert="horz" wrap="square" lIns="0" tIns="0" rIns="0" bIns="0" rtlCol="0" anchor="ctr" anchorCtr="0"/>
          <a:lstStyle/>
          <a:p>
            <a:pPr>
              <a:lnSpc>
                <a:spcPct val="133000"/>
              </a:lnSpc>
              <a:defRPr/>
            </a:pPr>
            <a:r>
              <a:rPr lang="zh-CN" alt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核心目标是基于视频发布</a:t>
            </a:r>
            <a:r>
              <a:rPr lang="zh-CN" altLang="en-US" sz="1300" b="1" i="0" u="none" strike="noStrike" dirty="0">
                <a:solidFill>
                  <a:schemeClr val="bg2">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前三轮的早期反馈数据</a:t>
            </a:r>
            <a:r>
              <a:rPr lang="zh-CN" alt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（播放、点赞等），精准预测其未来30轮的热度演变曲线及总播放量，为流量分发与资源倾斜提供前置决策依据。</a:t>
            </a:r>
          </a:p>
        </p:txBody>
      </p:sp>
      <p:sp>
        <p:nvSpPr>
          <p:cNvPr id="19" name="AutoShape 8"/>
          <p:cNvSpPr/>
          <p:nvPr/>
        </p:nvSpPr>
        <p:spPr>
          <a:xfrm>
            <a:off x="6010801" y="2504226"/>
            <a:ext cx="5763790" cy="4155015"/>
          </a:xfrm>
          <a:prstGeom prst="roundRect">
            <a:avLst>
              <a:gd name="adj" fmla="val 4615"/>
            </a:avLst>
          </a:prstGeom>
          <a:solidFill>
            <a:srgbClr val="FFFFFF">
              <a:alpha val="100000"/>
            </a:srgbClr>
          </a:solidFill>
          <a:ln w="12700" cap="flat" cmpd="sng">
            <a:solidFill>
              <a:srgbClr val="EEEEEE">
                <a:alpha val="100000"/>
              </a:srgbClr>
            </a:solidFill>
            <a:prstDash val="solid"/>
            <a:round/>
          </a:ln>
        </p:spPr>
        <p:txBody>
          <a:bodyPr vert="horz" wrap="square" lIns="0" tIns="0" rIns="0" bIns="0" rtlCol="0" anchor="ctr" anchorCtr="0"/>
          <a:lstStyle/>
          <a:p>
            <a:pPr algn="ctr">
              <a:defRPr/>
            </a:pPr>
            <a:endParaRPr dirty="0"/>
          </a:p>
        </p:txBody>
      </p:sp>
      <p:pic>
        <p:nvPicPr>
          <p:cNvPr id="20"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7350" y="2723550"/>
            <a:ext cx="406400" cy="406400"/>
          </a:xfrm>
          <a:prstGeom prst="rect">
            <a:avLst/>
          </a:prstGeom>
        </p:spPr>
      </p:pic>
      <p:sp>
        <p:nvSpPr>
          <p:cNvPr id="21" name="AutoShape 10"/>
          <p:cNvSpPr/>
          <p:nvPr/>
        </p:nvSpPr>
        <p:spPr>
          <a:xfrm>
            <a:off x="6922967" y="2504474"/>
            <a:ext cx="3533473" cy="72760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dirty="0">
                <a:solidFill>
                  <a:srgbClr val="4A90E2"/>
                </a:solidFill>
                <a:latin typeface="Noto Sans SC" panose="020B0200000000000000" charset="-122"/>
                <a:ea typeface="Noto Sans SC" panose="020B0200000000000000" charset="-122"/>
                <a:sym typeface="Noto Sans SC" panose="020B0200000000000000" charset="-122"/>
              </a:rPr>
              <a:t>技术方案：分层回归</a:t>
            </a:r>
            <a:endParaRPr lang="en-US" sz="1100" dirty="0"/>
          </a:p>
        </p:txBody>
      </p:sp>
      <p:sp>
        <p:nvSpPr>
          <p:cNvPr id="22" name="AutoShape 11"/>
          <p:cNvSpPr/>
          <p:nvPr/>
        </p:nvSpPr>
        <p:spPr>
          <a:xfrm>
            <a:off x="6341745" y="3509645"/>
            <a:ext cx="5299710" cy="282575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400" b="1" i="0" u="none" strike="noStrike" dirty="0">
                <a:solidFill>
                  <a:schemeClr val="bg2">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多步序列回归</a:t>
            </a:r>
          </a:p>
          <a:p>
            <a:pPr marL="0" indent="0" algn="l">
              <a:lnSpc>
                <a:spcPct val="100000"/>
              </a:lnSpc>
              <a:defRPr/>
            </a:pP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a:t>
            </a:r>
            <a:r>
              <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MultiOutputRegressor(LightGBM)，</a:t>
            </a: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以前3轮数据为输入，直接预测未来27轮每天的播放量序列。每个子回归器使用分位数损失（</a:t>
            </a:r>
            <a:r>
              <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alpha=0.5），</a:t>
            </a: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对极端值更鲁棒。</a:t>
            </a:r>
            <a:endPar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400" b="1" i="0" u="none" strike="noStrike" dirty="0">
                <a:solidFill>
                  <a:schemeClr val="bg2">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特征增强</a:t>
            </a:r>
            <a:endPar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融合20维视频内容特征（</a:t>
            </a:r>
            <a:r>
              <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fields one-hot）</a:t>
            </a: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及加速度、最大增量、变异系数等时序派生特征，共37维输入，提升模型对爆款视频的识别能力。</a:t>
            </a:r>
            <a:endPar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400" b="1" i="0" u="none" strike="noStrike" dirty="0">
                <a:solidFill>
                  <a:schemeClr val="bg2">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后处理增强</a:t>
            </a:r>
            <a:endPar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噪声曲线：叠加验证集误差标准差的高斯噪声，使预测波动与真实数据一致。</a:t>
            </a:r>
            <a:endPar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动态置信区间：</a:t>
            </a:r>
            <a:r>
              <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pred ± 2×error_std，</a:t>
            </a: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阴影大小随不确定性自适应变化。</a:t>
            </a:r>
            <a:endParaRPr lang="en-US" altLang="zh-CN"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序列累计总播放量：累加预测的未来27轮中位数，替代独立分层回归，保证总量与曲线逻辑自洽。</a:t>
            </a:r>
          </a:p>
          <a:p>
            <a:pPr marL="0" indent="0" algn="l">
              <a:lnSpc>
                <a:spcPct val="100000"/>
              </a:lnSpc>
              <a:defRPr/>
            </a:pPr>
            <a:endPar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 name="图片 1" descr="ChatGPT Image 2026年5月30日 11_20_21"/>
          <p:cNvPicPr>
            <a:picLocks noChangeAspect="1"/>
          </p:cNvPicPr>
          <p:nvPr/>
        </p:nvPicPr>
        <p:blipFill>
          <a:blip r:embed="rId4"/>
          <a:stretch>
            <a:fillRect/>
          </a:stretch>
        </p:blipFill>
        <p:spPr>
          <a:xfrm>
            <a:off x="716915" y="891540"/>
            <a:ext cx="4534535" cy="5397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30438" y="-45248"/>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dirty="0"/>
          </a:p>
        </p:txBody>
      </p:sp>
      <p:sp>
        <p:nvSpPr>
          <p:cNvPr id="10"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F5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视频热度预测</a:t>
            </a:r>
            <a:endParaRPr kumimoji="1" lang="zh-CN" altLang="en-US" b="1" dirty="0">
              <a:latin typeface="微软雅黑" panose="020B0503020204020204" pitchFamily="34" charset="-122"/>
              <a:ea typeface="微软雅黑" panose="020B0503020204020204" pitchFamily="34" charset="-122"/>
            </a:endParaRPr>
          </a:p>
        </p:txBody>
      </p:sp>
      <p:sp>
        <p:nvSpPr>
          <p:cNvPr id="35" name="天蝎PPT原创©6"/>
          <p:cNvSpPr/>
          <p:nvPr/>
        </p:nvSpPr>
        <p:spPr>
          <a:xfrm rot="5400000" flipH="1">
            <a:off x="5116723" y="2891817"/>
            <a:ext cx="3638169" cy="958329"/>
          </a:xfrm>
          <a:prstGeom prst="trapezoid">
            <a:avLst>
              <a:gd name="adj" fmla="val 33700"/>
            </a:avLst>
          </a:prstGeom>
          <a:gradFill flip="none" rotWithShape="1">
            <a:gsLst>
              <a:gs pos="0">
                <a:schemeClr val="accent1">
                  <a:alpha val="0"/>
                </a:schemeClr>
              </a:gs>
              <a:gs pos="97000">
                <a:schemeClr val="accent1">
                  <a:alpha val="40000"/>
                </a:schemeClr>
              </a:gs>
            </a:gsLst>
            <a:lin ang="5400000" scaled="1"/>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36" name="组合 35"/>
          <p:cNvGrpSpPr/>
          <p:nvPr/>
        </p:nvGrpSpPr>
        <p:grpSpPr>
          <a:xfrm>
            <a:off x="7400379" y="1551898"/>
            <a:ext cx="4141270" cy="3718080"/>
            <a:chOff x="64" y="2468"/>
            <a:chExt cx="5419" cy="7361"/>
          </a:xfrm>
        </p:grpSpPr>
        <p:sp>
          <p:nvSpPr>
            <p:cNvPr id="37" name="天蝎PPT原创©7"/>
            <p:cNvSpPr/>
            <p:nvPr/>
          </p:nvSpPr>
          <p:spPr>
            <a:xfrm>
              <a:off x="73" y="2475"/>
              <a:ext cx="5410" cy="7354"/>
            </a:xfrm>
            <a:prstGeom prst="roundRect">
              <a:avLst>
                <a:gd name="adj" fmla="val 1606"/>
              </a:avLst>
            </a:prstGeom>
            <a:solidFill>
              <a:schemeClr val="bg1"/>
            </a:solidFill>
            <a:ln w="15875">
              <a:solidFill>
                <a:schemeClr val="accent1"/>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8" name="天蝎PPT原创©8"/>
            <p:cNvSpPr/>
            <p:nvPr/>
          </p:nvSpPr>
          <p:spPr>
            <a:xfrm>
              <a:off x="64" y="2468"/>
              <a:ext cx="5410" cy="964"/>
            </a:xfrm>
            <a:prstGeom prst="round2SameRect">
              <a:avLst>
                <a:gd name="adj1" fmla="val 12592"/>
                <a:gd name="adj2"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 name="文本框 39"/>
            <p:cNvSpPr txBox="1"/>
            <p:nvPr/>
          </p:nvSpPr>
          <p:spPr>
            <a:xfrm>
              <a:off x="172" y="3717"/>
              <a:ext cx="4888" cy="5528"/>
            </a:xfrm>
            <a:prstGeom prst="rect">
              <a:avLst/>
            </a:prstGeom>
            <a:noFill/>
          </p:spPr>
          <p:txBody>
            <a:bodyPr wrap="square">
              <a:spAutoFit/>
            </a:bodyPr>
            <a:lstStyle/>
            <a:p>
              <a:pPr>
                <a:lnSpc>
                  <a:spcPct val="150000"/>
                </a:lnSpc>
              </a:pPr>
              <a:r>
                <a:rPr lang="en-US" altLang="zh-CN" sz="1600" b="1" dirty="0">
                  <a:solidFill>
                    <a:schemeClr val="accent3">
                      <a:lumMod val="75000"/>
                    </a:schemeClr>
                  </a:solidFill>
                  <a:latin typeface="Noto Sans SC" panose="020B0200000000000000" charset="-122"/>
                  <a:ea typeface="Noto Sans SC" panose="020B0200000000000000" charset="-122"/>
                  <a:cs typeface="微软雅黑" panose="020B0503020204020204" pitchFamily="34" charset="-122"/>
                  <a:sym typeface="+mn-ea"/>
                </a:rPr>
                <a:t>1.</a:t>
              </a:r>
              <a:r>
                <a:rPr lang="zh-CN" altLang="en-US" sz="1600" b="1" dirty="0">
                  <a:solidFill>
                    <a:schemeClr val="accent3">
                      <a:lumMod val="75000"/>
                    </a:schemeClr>
                  </a:solidFill>
                  <a:latin typeface="Noto Sans SC" panose="020B0200000000000000" charset="-122"/>
                  <a:ea typeface="Noto Sans SC" panose="020B0200000000000000" charset="-122"/>
                  <a:cs typeface="微软雅黑" panose="020B0503020204020204" pitchFamily="34" charset="-122"/>
                  <a:sym typeface="+mn-ea"/>
                </a:rPr>
                <a:t>预测与真实值对比：</a:t>
              </a:r>
              <a:endParaRPr lang="en-US" altLang="zh-CN" sz="1600" b="1" dirty="0">
                <a:solidFill>
                  <a:schemeClr val="accent3">
                    <a:lumMod val="75000"/>
                  </a:schemeClr>
                </a:solidFill>
                <a:latin typeface="Noto Sans SC" panose="020B0200000000000000" charset="-122"/>
                <a:ea typeface="Noto Sans SC" panose="020B0200000000000000" charset="-122"/>
                <a:cs typeface="微软雅黑" panose="020B0503020204020204" pitchFamily="34" charset="-122"/>
                <a:sym typeface="+mn-ea"/>
              </a:endParaRPr>
            </a:p>
            <a:p>
              <a:pPr>
                <a:lnSpc>
                  <a:spcPct val="150000"/>
                </a:lnSpc>
              </a:pPr>
              <a:r>
                <a:rPr lang="zh-CN" altLang="en-US" sz="1600" dirty="0">
                  <a:latin typeface="Noto Sans SC" panose="020B0200000000000000" charset="-122"/>
                  <a:ea typeface="Noto Sans SC" panose="020B0200000000000000" charset="-122"/>
                  <a:cs typeface="微软雅黑" panose="020B0503020204020204" pitchFamily="34" charset="-122"/>
                  <a:sym typeface="+mn-ea"/>
                </a:rPr>
                <a:t>并列呈现模型的预测结果与实际发生的真实结果。</a:t>
              </a:r>
              <a:endParaRPr lang="en-US" altLang="zh-CN" sz="1600" dirty="0">
                <a:latin typeface="Noto Sans SC" panose="020B0200000000000000" charset="-122"/>
                <a:ea typeface="Noto Sans SC" panose="020B0200000000000000" charset="-122"/>
                <a:cs typeface="微软雅黑" panose="020B0503020204020204" pitchFamily="34" charset="-122"/>
                <a:sym typeface="+mn-ea"/>
              </a:endParaRPr>
            </a:p>
            <a:p>
              <a:pPr>
                <a:lnSpc>
                  <a:spcPct val="150000"/>
                </a:lnSpc>
              </a:pPr>
              <a:r>
                <a:rPr lang="en-US" altLang="zh-CN" sz="1600" b="1" dirty="0">
                  <a:solidFill>
                    <a:schemeClr val="accent3">
                      <a:lumMod val="75000"/>
                    </a:schemeClr>
                  </a:solidFill>
                  <a:latin typeface="Noto Sans SC" panose="020B0200000000000000" charset="-122"/>
                  <a:ea typeface="Noto Sans SC" panose="020B0200000000000000" charset="-122"/>
                  <a:cs typeface="微软雅黑" panose="020B0503020204020204" pitchFamily="34" charset="-122"/>
                  <a:sym typeface="+mn-ea"/>
                </a:rPr>
                <a:t>2.</a:t>
              </a:r>
              <a:r>
                <a:rPr lang="zh-CN" altLang="en-US" sz="1600" b="1" dirty="0">
                  <a:solidFill>
                    <a:schemeClr val="accent3">
                      <a:lumMod val="75000"/>
                    </a:schemeClr>
                  </a:solidFill>
                  <a:latin typeface="Noto Sans SC" panose="020B0200000000000000" charset="-122"/>
                  <a:ea typeface="Noto Sans SC" panose="020B0200000000000000" charset="-122"/>
                  <a:cs typeface="微软雅黑" panose="020B0503020204020204" pitchFamily="34" charset="-122"/>
                  <a:sym typeface="+mn-ea"/>
                </a:rPr>
                <a:t>动态趋势可视化：</a:t>
              </a:r>
              <a:endParaRPr lang="en-US" altLang="zh-CN" sz="1600" b="1" dirty="0">
                <a:solidFill>
                  <a:schemeClr val="accent3">
                    <a:lumMod val="75000"/>
                  </a:schemeClr>
                </a:solidFill>
                <a:latin typeface="Noto Sans SC" panose="020B0200000000000000" charset="-122"/>
                <a:ea typeface="Noto Sans SC" panose="020B0200000000000000" charset="-122"/>
                <a:cs typeface="微软雅黑" panose="020B0503020204020204" pitchFamily="34" charset="-122"/>
                <a:sym typeface="+mn-ea"/>
              </a:endParaRPr>
            </a:p>
            <a:p>
              <a:pPr>
                <a:lnSpc>
                  <a:spcPct val="150000"/>
                </a:lnSpc>
              </a:pPr>
              <a:r>
                <a:rPr lang="zh-CN" altLang="en-US" sz="1600" dirty="0">
                  <a:latin typeface="Noto Sans SC" panose="020B0200000000000000" charset="-122"/>
                  <a:ea typeface="Noto Sans SC" panose="020B0200000000000000" charset="-122"/>
                  <a:cs typeface="微软雅黑" panose="020B0503020204020204" pitchFamily="34" charset="-122"/>
                  <a:sym typeface="+mn-ea"/>
                </a:rPr>
                <a:t>通过图表，页面将视频热度的动态变化趋势进行了可视化。用户可以清晰地看到模型预测的热度走向。</a:t>
              </a:r>
              <a:endParaRPr lang="zh-CN" altLang="en-US" sz="1600" dirty="0">
                <a:solidFill>
                  <a:srgbClr val="000000"/>
                </a:solidFill>
                <a:latin typeface="Noto Sans SC" panose="020B0200000000000000" charset="-122"/>
                <a:ea typeface="Noto Sans SC" panose="020B0200000000000000" charset="-122"/>
                <a:cs typeface="微软雅黑" panose="020B0503020204020204" pitchFamily="34" charset="-122"/>
                <a:sym typeface="+mn-ea"/>
              </a:endParaRPr>
            </a:p>
          </p:txBody>
        </p:sp>
      </p:grpSp>
      <p:sp>
        <p:nvSpPr>
          <p:cNvPr id="42" name="天蝎PPT原创©14"/>
          <p:cNvSpPr txBox="1"/>
          <p:nvPr/>
        </p:nvSpPr>
        <p:spPr>
          <a:xfrm>
            <a:off x="7532708" y="1596433"/>
            <a:ext cx="1925351" cy="400110"/>
          </a:xfrm>
          <a:prstGeom prst="rect">
            <a:avLst/>
          </a:prstGeom>
          <a:noFill/>
        </p:spPr>
        <p:txBody>
          <a:bodyPr wrap="square">
            <a:spAutoFit/>
          </a:bodyPr>
          <a:lstStyle/>
          <a:p>
            <a:r>
              <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rPr>
              <a:t>页面结果展示</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 name="图片 1" descr="屏幕截图 2026-05-30 103747"/>
          <p:cNvPicPr>
            <a:picLocks noChangeAspect="1"/>
          </p:cNvPicPr>
          <p:nvPr/>
        </p:nvPicPr>
        <p:blipFill>
          <a:blip r:embed="rId2"/>
          <a:stretch>
            <a:fillRect/>
          </a:stretch>
        </p:blipFill>
        <p:spPr>
          <a:xfrm>
            <a:off x="574040" y="1551305"/>
            <a:ext cx="6002655" cy="3638550"/>
          </a:xfrm>
          <a:prstGeom prst="roundRect">
            <a:avLst>
              <a:gd name="adj" fmla="val 6520"/>
            </a:avLst>
          </a:prstGeom>
          <a:ln>
            <a:solidFill>
              <a:schemeClr val="accent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6" name="组合 5"/>
          <p:cNvGrpSpPr/>
          <p:nvPr/>
        </p:nvGrpSpPr>
        <p:grpSpPr>
          <a:xfrm>
            <a:off x="807956" y="875920"/>
            <a:ext cx="6051550" cy="5616451"/>
            <a:chOff x="1460901" y="1968499"/>
            <a:chExt cx="9763615" cy="3022601"/>
          </a:xfrm>
        </p:grpSpPr>
        <p:sp>
          <p:nvSpPr>
            <p:cNvPr id="4" name="标题 1"/>
            <p:cNvSpPr txBox="1"/>
            <p:nvPr/>
          </p:nvSpPr>
          <p:spPr>
            <a:xfrm>
              <a:off x="1504293" y="2012720"/>
              <a:ext cx="9720223" cy="2978380"/>
            </a:xfrm>
            <a:prstGeom prst="roundRect">
              <a:avLst>
                <a:gd name="adj" fmla="val 6411"/>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460901" y="1968499"/>
              <a:ext cx="9720223" cy="2978380"/>
            </a:xfrm>
            <a:prstGeom prst="roundRect">
              <a:avLst>
                <a:gd name="adj" fmla="val 6411"/>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grpSp>
      <p:sp>
        <p:nvSpPr>
          <p:cNvPr id="11"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F6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视频聚类分析</a:t>
            </a:r>
            <a:endParaRPr kumimoji="1" lang="zh-CN" altLang="en-US" b="1" dirty="0">
              <a:latin typeface="微软雅黑" panose="020B0503020204020204" pitchFamily="34" charset="-122"/>
              <a:ea typeface="微软雅黑" panose="020B0503020204020204" pitchFamily="34" charset="-122"/>
            </a:endParaRPr>
          </a:p>
        </p:txBody>
      </p:sp>
      <p:sp>
        <p:nvSpPr>
          <p:cNvPr id="12"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 name="图片 1"/>
          <p:cNvPicPr>
            <a:picLocks noChangeAspect="1"/>
          </p:cNvPicPr>
          <p:nvPr/>
        </p:nvPicPr>
        <p:blipFill>
          <a:blip r:embed="rId2"/>
          <a:stretch>
            <a:fillRect/>
          </a:stretch>
        </p:blipFill>
        <p:spPr>
          <a:xfrm>
            <a:off x="1086081" y="1005543"/>
            <a:ext cx="5349251" cy="5212091"/>
          </a:xfrm>
          <a:prstGeom prst="rect">
            <a:avLst/>
          </a:prstGeom>
        </p:spPr>
      </p:pic>
      <p:sp>
        <p:nvSpPr>
          <p:cNvPr id="10" name="AutoShape 3"/>
          <p:cNvSpPr/>
          <p:nvPr/>
        </p:nvSpPr>
        <p:spPr>
          <a:xfrm>
            <a:off x="7085336" y="1096434"/>
            <a:ext cx="4830464" cy="2019299"/>
          </a:xfrm>
          <a:prstGeom prst="roundRect">
            <a:avLst>
              <a:gd name="adj" fmla="val 13333"/>
            </a:avLst>
          </a:prstGeom>
          <a:solidFill>
            <a:schemeClr val="bg1"/>
          </a:solidFill>
          <a:ln w="19050" cap="flat" cmpd="sng">
            <a:solidFill>
              <a:schemeClr val="accent3"/>
            </a:solidFill>
            <a:prstDash val="solid"/>
            <a:round/>
          </a:ln>
        </p:spPr>
        <p:txBody>
          <a:bodyPr vert="horz" wrap="square" lIns="63500" tIns="63500" rIns="63500" bIns="63500" rtlCol="0" anchor="ctr"/>
          <a:lstStyle/>
          <a:p>
            <a:pPr algn="ctr">
              <a:defRPr/>
            </a:pPr>
            <a:endParaRPr/>
          </a:p>
        </p:txBody>
      </p:sp>
      <p:sp>
        <p:nvSpPr>
          <p:cNvPr id="16" name="AutoShape 5"/>
          <p:cNvSpPr/>
          <p:nvPr/>
        </p:nvSpPr>
        <p:spPr>
          <a:xfrm>
            <a:off x="7317641" y="1562099"/>
            <a:ext cx="4310479" cy="1121833"/>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核心思想：摒弃标签依赖</a:t>
            </a:r>
            <a:r>
              <a:rPr lang="en-US" sz="1700" b="1"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7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回归用户行为本质</a:t>
            </a:r>
            <a:endParaRPr lang="en-US" sz="1700" dirty="0"/>
          </a:p>
          <a:p>
            <a:pPr marL="0" indent="0" algn="l">
              <a:lnSpc>
                <a:spcPct val="100000"/>
              </a:lnSpc>
            </a:pPr>
            <a:r>
              <a:rPr 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p>
          <a:p>
            <a:pPr marL="0" indent="0" algn="l">
              <a:lnSpc>
                <a:spcPct val="100000"/>
              </a:lnSpc>
            </a:pPr>
            <a:r>
              <a:rPr lang="en-US" sz="1600"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如果两个视频经常被同一批用户观看，那么它们在内容或主题上很可能是相似的。通过挖掘用户共现行为，自动发现视频间的潜在联系</a:t>
            </a:r>
            <a:r>
              <a:rPr 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7" name="AutoShape 14"/>
          <p:cNvSpPr/>
          <p:nvPr/>
        </p:nvSpPr>
        <p:spPr>
          <a:xfrm>
            <a:off x="7110736" y="3369732"/>
            <a:ext cx="4805064" cy="2853267"/>
          </a:xfrm>
          <a:prstGeom prst="roundRect">
            <a:avLst>
              <a:gd name="adj" fmla="val 4800"/>
            </a:avLst>
          </a:prstGeom>
          <a:solidFill>
            <a:srgbClr val="FFFFFF">
              <a:alpha val="100000"/>
            </a:srgbClr>
          </a:solidFill>
          <a:ln w="19050" cap="flat" cmpd="sng">
            <a:solidFill>
              <a:schemeClr val="accent1"/>
            </a:solidFill>
            <a:prstDash val="solid"/>
            <a:round/>
          </a:ln>
        </p:spPr>
        <p:txBody>
          <a:bodyPr vert="horz" wrap="square" lIns="63500" tIns="63500" rIns="63500" bIns="63500" rtlCol="0" anchor="ctr"/>
          <a:lstStyle/>
          <a:p>
            <a:pPr algn="ctr">
              <a:defRPr/>
            </a:pPr>
            <a:endParaRPr/>
          </a:p>
        </p:txBody>
      </p:sp>
      <p:sp>
        <p:nvSpPr>
          <p:cNvPr id="18" name="AutoShape 16"/>
          <p:cNvSpPr/>
          <p:nvPr/>
        </p:nvSpPr>
        <p:spPr>
          <a:xfrm>
            <a:off x="8066130" y="3539066"/>
            <a:ext cx="3459646"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关键算法</a:t>
            </a:r>
            <a:r>
              <a:rPr lang="en-US" sz="1800" b="1" i="0" u="none" strike="noStrike"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：K-Means++</a:t>
            </a:r>
            <a:endParaRPr lang="en-US" sz="1100" dirty="0"/>
          </a:p>
        </p:txBody>
      </p:sp>
      <p:sp>
        <p:nvSpPr>
          <p:cNvPr id="19" name="AutoShape 17"/>
          <p:cNvSpPr/>
          <p:nvPr/>
        </p:nvSpPr>
        <p:spPr>
          <a:xfrm>
            <a:off x="7438546" y="3683000"/>
            <a:ext cx="4317046" cy="228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pPr>
            <a:r>
              <a:rPr lang="zh-CN" alt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en-US" altLang="zh-CN"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64</a:t>
            </a:r>
            <a:r>
              <a:rPr lang="zh-CN" alt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维行为向量，</a:t>
            </a:r>
            <a:r>
              <a:rPr lang="en-US" sz="16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通过“智能初始质心选择”策略，克服了传统</a:t>
            </a:r>
            <a:r>
              <a:rPr 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K-Means </a:t>
            </a:r>
            <a:r>
              <a:rPr lang="en-US" sz="16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对随机初始值敏感的缺点</a:t>
            </a:r>
            <a:r>
              <a:rPr 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indent="0" algn="l">
              <a:lnSpc>
                <a:spcPct val="117000"/>
              </a:lnSpc>
            </a:pPr>
            <a:endPar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600" b="1"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避免陷入局部最优解，提升了聚类结果的准确性和稳定性，确保同簇视频相似度更高</a:t>
            </a:r>
            <a:r>
              <a:rPr lang="en-US" sz="1600" b="1"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F6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视频聚类分析</a:t>
            </a:r>
            <a:endParaRPr kumimoji="1" lang="zh-CN" altLang="en-US" b="1" dirty="0">
              <a:latin typeface="微软雅黑" panose="020B0503020204020204" pitchFamily="34" charset="-122"/>
              <a:ea typeface="微软雅黑" panose="020B0503020204020204" pitchFamily="34" charset="-122"/>
            </a:endParaRPr>
          </a:p>
        </p:txBody>
      </p:sp>
      <p:sp>
        <p:nvSpPr>
          <p:cNvPr id="12"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矩形: 圆角 14"/>
          <p:cNvSpPr/>
          <p:nvPr/>
        </p:nvSpPr>
        <p:spPr>
          <a:xfrm>
            <a:off x="492971" y="3697181"/>
            <a:ext cx="3520440" cy="525145"/>
          </a:xfrm>
          <a:prstGeom prst="roundRect">
            <a:avLst>
              <a:gd name="adj" fmla="val 0"/>
            </a:avLst>
          </a:prstGeom>
          <a:gradFill flip="none" rotWithShape="1">
            <a:gsLst>
              <a:gs pos="0">
                <a:schemeClr val="accent1">
                  <a:alpha val="5000"/>
                </a:schemeClr>
              </a:gs>
              <a:gs pos="100000">
                <a:schemeClr val="accent1">
                  <a:alpha val="0"/>
                </a:schemeClr>
              </a:gs>
            </a:gsLst>
            <a:lin ang="5400000" scaled="1"/>
            <a:tileRect/>
          </a:gradFill>
          <a:ln w="3175" cap="flat" cmpd="sng" algn="ctr">
            <a:solidFill>
              <a:schemeClr val="accent1">
                <a:alpha val="50000"/>
              </a:schemeClr>
            </a:solidFill>
            <a:prstDash val="solid"/>
            <a:miter lim="800000"/>
          </a:ln>
          <a:effectLst/>
        </p:spPr>
        <p:txBody>
          <a:bodyPr rtlCol="0" anchor="ctr"/>
          <a:lstStyle/>
          <a:p>
            <a:pPr algn="ctr"/>
            <a:endParaRPr lang="zh-CN" altLang="en-US" sz="1350" kern="0">
              <a:solidFill>
                <a:prstClr val="white"/>
              </a:solidFill>
              <a:latin typeface="Roboto"/>
              <a:ea typeface="等线" panose="02010600030101010101" charset="-122"/>
            </a:endParaRPr>
          </a:p>
        </p:txBody>
      </p:sp>
      <p:sp>
        <p:nvSpPr>
          <p:cNvPr id="16" name="矩形: 圆角 15"/>
          <p:cNvSpPr/>
          <p:nvPr/>
        </p:nvSpPr>
        <p:spPr>
          <a:xfrm>
            <a:off x="4733621" y="950537"/>
            <a:ext cx="6675398" cy="594360"/>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17" name="矩形 16"/>
          <p:cNvSpPr/>
          <p:nvPr/>
        </p:nvSpPr>
        <p:spPr>
          <a:xfrm>
            <a:off x="4733620" y="1689848"/>
            <a:ext cx="6675399" cy="3401568"/>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18" name="矩形: 圆角 17"/>
          <p:cNvSpPr/>
          <p:nvPr/>
        </p:nvSpPr>
        <p:spPr>
          <a:xfrm>
            <a:off x="4724477" y="5244831"/>
            <a:ext cx="6684542" cy="1091573"/>
          </a:xfrm>
          <a:prstGeom prst="roundRect">
            <a:avLst>
              <a:gd name="adj" fmla="val 0"/>
            </a:avLst>
          </a:prstGeom>
          <a:solidFill>
            <a:schemeClr val="accent1">
              <a:alpha val="1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19" name="文本框 18"/>
          <p:cNvSpPr txBox="1"/>
          <p:nvPr/>
        </p:nvSpPr>
        <p:spPr>
          <a:xfrm>
            <a:off x="5061929" y="1004176"/>
            <a:ext cx="6147708" cy="429895"/>
          </a:xfrm>
          <a:prstGeom prst="rect">
            <a:avLst/>
          </a:prstGeom>
          <a:noFill/>
        </p:spPr>
        <p:txBody>
          <a:bodyPr wrap="square">
            <a:spAutoFit/>
          </a:bodyPr>
          <a:lstStyle/>
          <a:p>
            <a:pPr algn="ctr" rtl="0">
              <a:defRPr sz="1860" b="0" i="0" u="none" strike="noStrike" kern="1200" spc="0" baseline="0">
                <a:solidFill>
                  <a:srgbClr val="000000">
                    <a:lumMod val="65000"/>
                    <a:lumOff val="35000"/>
                  </a:srgbClr>
                </a:solidFill>
                <a:latin typeface="Alibaba PuHuiTi Medium" pitchFamily="18" charset="-122"/>
                <a:ea typeface="Alibaba PuHuiTi Medium" pitchFamily="18" charset="-122"/>
                <a:cs typeface="Alibaba PuHuiTi Medium" pitchFamily="18" charset="-122"/>
              </a:defRPr>
            </a:pPr>
            <a:r>
              <a:rPr lang="zh-CN" altLang="en-US" sz="2200" b="1" dirty="0">
                <a:solidFill>
                  <a:schemeClr val="bg1"/>
                </a:solidFill>
                <a:latin typeface="微软雅黑" panose="020B0503020204020204" pitchFamily="34" charset="-122"/>
                <a:ea typeface="微软雅黑" panose="020B0503020204020204" pitchFamily="34" charset="-122"/>
                <a:sym typeface="+mn-ea"/>
              </a:rPr>
              <a:t>聚类分析结果页面</a:t>
            </a:r>
            <a:r>
              <a:rPr lang="zh-CN" altLang="en-US" sz="2200" b="1" dirty="0">
                <a:solidFill>
                  <a:schemeClr val="bg1"/>
                </a:solidFill>
                <a:latin typeface="微软雅黑" panose="020B0503020204020204" pitchFamily="34" charset="-122"/>
                <a:ea typeface="微软雅黑" panose="020B0503020204020204" pitchFamily="34" charset="-122"/>
              </a:rPr>
              <a:t>展示</a:t>
            </a:r>
          </a:p>
        </p:txBody>
      </p:sp>
      <p:sp>
        <p:nvSpPr>
          <p:cNvPr id="20" name="矩形 19"/>
          <p:cNvSpPr/>
          <p:nvPr/>
        </p:nvSpPr>
        <p:spPr>
          <a:xfrm flipH="1">
            <a:off x="4817052" y="5365073"/>
            <a:ext cx="6499392" cy="787588"/>
          </a:xfrm>
          <a:prstGeom prst="rect">
            <a:avLst/>
          </a:prstGeom>
          <a:ln>
            <a:noFill/>
          </a:ln>
        </p:spPr>
        <p:txBody>
          <a:bodyPr wrap="square" lIns="91440" tIns="45720" rIns="91440" bIns="45720" anchor="t">
            <a:spAutoFit/>
          </a:bodyPr>
          <a:lstStyle/>
          <a:p>
            <a:pPr>
              <a:lnSpc>
                <a:spcPct val="150000"/>
              </a:lnSpc>
            </a:pPr>
            <a:r>
              <a:rPr lang="en-US" altLang="zh-CN" sz="1600" dirty="0" err="1">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图中不同颜色的点代表不同聚类簇</a:t>
            </a:r>
            <a:r>
              <a:rPr lang="en-US" altLang="zh-CN" sz="16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br>
              <a:rPr lang="en-US" altLang="zh-CN" sz="16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600" dirty="0" err="1">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同簇视频在观看行为上表现出高度相似性，证明了聚类算法的有效性</a:t>
            </a:r>
            <a:r>
              <a:rPr lang="en-US" altLang="zh-CN" sz="16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100631" y="1706782"/>
            <a:ext cx="5706584" cy="3371240"/>
          </a:xfrm>
          <a:prstGeom prst="rect">
            <a:avLst/>
          </a:prstGeom>
        </p:spPr>
      </p:pic>
      <p:sp>
        <p:nvSpPr>
          <p:cNvPr id="22" name="任意形状 24"/>
          <p:cNvSpPr/>
          <p:nvPr/>
        </p:nvSpPr>
        <p:spPr>
          <a:xfrm>
            <a:off x="498051" y="1486111"/>
            <a:ext cx="3515360" cy="1900555"/>
          </a:xfrm>
          <a:custGeom>
            <a:avLst/>
            <a:gdLst>
              <a:gd name="connsiteX0" fmla="*/ 0 w 3515360"/>
              <a:gd name="connsiteY0" fmla="*/ 0 h 881380"/>
              <a:gd name="connsiteX1" fmla="*/ 3515360 w 3515360"/>
              <a:gd name="connsiteY1" fmla="*/ 0 h 881380"/>
              <a:gd name="connsiteX2" fmla="*/ 3515360 w 3515360"/>
              <a:gd name="connsiteY2" fmla="*/ 881380 h 881380"/>
              <a:gd name="connsiteX3" fmla="*/ 0 w 3515360"/>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60" h="881380">
                <a:moveTo>
                  <a:pt x="0" y="0"/>
                </a:moveTo>
                <a:lnTo>
                  <a:pt x="3515360" y="0"/>
                </a:lnTo>
                <a:lnTo>
                  <a:pt x="3515360" y="881380"/>
                </a:lnTo>
                <a:lnTo>
                  <a:pt x="0" y="881380"/>
                </a:lnTo>
                <a:close/>
              </a:path>
            </a:pathLst>
          </a:custGeom>
          <a:solidFill>
            <a:schemeClr val="bg1">
              <a:lumMod val="95000"/>
            </a:schemeClr>
          </a:solidFill>
          <a:ln w="12700" cap="flat">
            <a:noFill/>
            <a:prstDash val="solid"/>
            <a:miter/>
          </a:ln>
        </p:spPr>
        <p:txBody>
          <a:bodyPr rtlCol="0" anchor="ctr"/>
          <a:lstStyle/>
          <a:p>
            <a:endParaRPr lang="zh-CN" altLang="en-US">
              <a:latin typeface="微软雅黑" panose="020B0503020204020204" pitchFamily="34" charset="-122"/>
              <a:ea typeface="微软雅黑" panose="020B0503020204020204" pitchFamily="34" charset="-122"/>
            </a:endParaRPr>
          </a:p>
        </p:txBody>
      </p:sp>
      <p:sp>
        <p:nvSpPr>
          <p:cNvPr id="29" name="矩形: 圆角 14"/>
          <p:cNvSpPr/>
          <p:nvPr/>
        </p:nvSpPr>
        <p:spPr>
          <a:xfrm>
            <a:off x="498051" y="967316"/>
            <a:ext cx="3520440" cy="525145"/>
          </a:xfrm>
          <a:prstGeom prst="roundRect">
            <a:avLst>
              <a:gd name="adj" fmla="val 0"/>
            </a:avLst>
          </a:prstGeom>
          <a:gradFill flip="none" rotWithShape="1">
            <a:gsLst>
              <a:gs pos="0">
                <a:schemeClr val="accent1">
                  <a:alpha val="5000"/>
                </a:schemeClr>
              </a:gs>
              <a:gs pos="100000">
                <a:schemeClr val="accent1">
                  <a:alpha val="0"/>
                </a:schemeClr>
              </a:gs>
            </a:gsLst>
            <a:lin ang="5400000" scaled="1"/>
            <a:tileRect/>
          </a:gradFill>
          <a:ln w="3175" cap="flat" cmpd="sng" algn="ctr">
            <a:solidFill>
              <a:schemeClr val="accent1">
                <a:alpha val="50000"/>
              </a:schemeClr>
            </a:solidFill>
            <a:prstDash val="solid"/>
            <a:miter lim="800000"/>
          </a:ln>
          <a:effectLst/>
        </p:spPr>
        <p:txBody>
          <a:bodyPr rtlCol="0" anchor="ctr"/>
          <a:lstStyle/>
          <a:p>
            <a:pPr algn="ctr"/>
            <a:endParaRPr lang="zh-CN" altLang="en-US" sz="1350" kern="0" dirty="0">
              <a:solidFill>
                <a:prstClr val="white"/>
              </a:solidFill>
              <a:latin typeface="Roboto"/>
              <a:ea typeface="等线" panose="02010600030101010101" charset="-122"/>
            </a:endParaRPr>
          </a:p>
        </p:txBody>
      </p:sp>
      <p:sp>
        <p:nvSpPr>
          <p:cNvPr id="23" name="文本框 22"/>
          <p:cNvSpPr txBox="1"/>
          <p:nvPr/>
        </p:nvSpPr>
        <p:spPr>
          <a:xfrm>
            <a:off x="1333711" y="1009226"/>
            <a:ext cx="1826260" cy="400110"/>
          </a:xfrm>
          <a:prstGeom prst="rect">
            <a:avLst/>
          </a:prstGeom>
          <a:noFill/>
        </p:spPr>
        <p:txBody>
          <a:bodyPr wrap="square" rtlCol="0">
            <a:spAutoFit/>
          </a:bodyPr>
          <a:lstStyle/>
          <a:p>
            <a:pPr algn="ctr"/>
            <a:r>
              <a:rPr kumimoji="1" lang="zh-CN" altLang="en-US" sz="2000" b="1" dirty="0">
                <a:solidFill>
                  <a:schemeClr val="accent1"/>
                </a:solidFill>
                <a:latin typeface="微软雅黑" panose="020B0503020204020204" pitchFamily="34" charset="-122"/>
                <a:ea typeface="微软雅黑" panose="020B0503020204020204" pitchFamily="34" charset="-122"/>
                <a:cs typeface="Alibaba PuHuiTi" pitchFamily="18" charset="-122"/>
              </a:rPr>
              <a:t>单簇可视化</a:t>
            </a:r>
          </a:p>
        </p:txBody>
      </p:sp>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rcRect l="1679" r="1679"/>
          <a:stretch>
            <a:fillRect/>
          </a:stretch>
        </p:blipFill>
        <p:spPr>
          <a:xfrm>
            <a:off x="574108" y="1488864"/>
            <a:ext cx="3342898" cy="1897802"/>
          </a:xfrm>
          <a:prstGeom prst="rect">
            <a:avLst/>
          </a:prstGeom>
        </p:spPr>
      </p:pic>
      <p:sp>
        <p:nvSpPr>
          <p:cNvPr id="25" name="任意形状 13"/>
          <p:cNvSpPr/>
          <p:nvPr/>
        </p:nvSpPr>
        <p:spPr>
          <a:xfrm>
            <a:off x="503131" y="4222326"/>
            <a:ext cx="3515360" cy="2179320"/>
          </a:xfrm>
          <a:custGeom>
            <a:avLst/>
            <a:gdLst>
              <a:gd name="connsiteX0" fmla="*/ 0 w 3515360"/>
              <a:gd name="connsiteY0" fmla="*/ 0 h 881380"/>
              <a:gd name="connsiteX1" fmla="*/ 3515360 w 3515360"/>
              <a:gd name="connsiteY1" fmla="*/ 0 h 881380"/>
              <a:gd name="connsiteX2" fmla="*/ 3515360 w 3515360"/>
              <a:gd name="connsiteY2" fmla="*/ 881380 h 881380"/>
              <a:gd name="connsiteX3" fmla="*/ 0 w 3515360"/>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60" h="881380">
                <a:moveTo>
                  <a:pt x="0" y="0"/>
                </a:moveTo>
                <a:lnTo>
                  <a:pt x="3515360" y="0"/>
                </a:lnTo>
                <a:lnTo>
                  <a:pt x="3515360" y="881380"/>
                </a:lnTo>
                <a:lnTo>
                  <a:pt x="0" y="881380"/>
                </a:lnTo>
                <a:close/>
              </a:path>
            </a:pathLst>
          </a:custGeom>
          <a:solidFill>
            <a:schemeClr val="bg1">
              <a:lumMod val="95000"/>
            </a:schemeClr>
          </a:solidFill>
          <a:ln w="12700" cap="flat">
            <a:noFill/>
            <a:prstDash val="solid"/>
            <a:miter/>
          </a:ln>
        </p:spPr>
        <p:txBody>
          <a:bodyPr rtlCol="0" anchor="ctr"/>
          <a:lstStyle/>
          <a:p>
            <a:endParaRPr lang="zh-CN" altLang="en-US">
              <a:latin typeface="微软雅黑" panose="020B0503020204020204" pitchFamily="34" charset="-122"/>
              <a:ea typeface="微软雅黑" panose="020B0503020204020204" pitchFamily="34" charset="-122"/>
            </a:endParaRPr>
          </a:p>
        </p:txBody>
      </p:sp>
      <p:sp>
        <p:nvSpPr>
          <p:cNvPr id="27" name="文本框 26"/>
          <p:cNvSpPr txBox="1"/>
          <p:nvPr/>
        </p:nvSpPr>
        <p:spPr>
          <a:xfrm>
            <a:off x="729190" y="3748616"/>
            <a:ext cx="2953809" cy="400110"/>
          </a:xfrm>
          <a:prstGeom prst="rect">
            <a:avLst/>
          </a:prstGeom>
          <a:noFill/>
        </p:spPr>
        <p:txBody>
          <a:bodyPr wrap="square" rtlCol="0">
            <a:spAutoFit/>
          </a:bodyPr>
          <a:lstStyle/>
          <a:p>
            <a:pPr lvl="0" algn="ctr">
              <a:buClrTx/>
              <a:buSzTx/>
              <a:buFontTx/>
            </a:pPr>
            <a:r>
              <a:rPr kumimoji="1" lang="zh-CN" altLang="en-US" sz="2000" b="1" dirty="0">
                <a:solidFill>
                  <a:schemeClr val="accent1"/>
                </a:solidFill>
                <a:latin typeface="微软雅黑" panose="020B0503020204020204" pitchFamily="34" charset="-122"/>
                <a:ea typeface="微软雅黑" panose="020B0503020204020204" pitchFamily="34" charset="-122"/>
                <a:cs typeface="Alibaba PuHuiTi" pitchFamily="18" charset="-122"/>
                <a:sym typeface="+mn-ea"/>
              </a:rPr>
              <a:t>簇内样本与解释分析</a:t>
            </a:r>
          </a:p>
        </p:txBody>
      </p: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392363" y="4203778"/>
            <a:ext cx="3768495" cy="224430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F7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用户聚类分析</a:t>
            </a:r>
            <a:endParaRPr kumimoji="1" lang="zh-CN" altLang="en-US" b="1" dirty="0">
              <a:latin typeface="微软雅黑" panose="020B0503020204020204" pitchFamily="34" charset="-122"/>
              <a:ea typeface="微软雅黑" panose="020B0503020204020204" pitchFamily="34" charset="-122"/>
            </a:endParaRPr>
          </a:p>
        </p:txBody>
      </p:sp>
      <p:sp>
        <p:nvSpPr>
          <p:cNvPr id="12"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6" name="图片 5"/>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65747" y="1199301"/>
            <a:ext cx="4206258" cy="4611681"/>
          </a:xfrm>
          <a:prstGeom prst="rect">
            <a:avLst/>
          </a:prstGeom>
        </p:spPr>
      </p:pic>
      <p:sp>
        <p:nvSpPr>
          <p:cNvPr id="35" name="文本框 34"/>
          <p:cNvSpPr txBox="1"/>
          <p:nvPr>
            <p:custDataLst>
              <p:tags r:id="rId1"/>
            </p:custDataLst>
          </p:nvPr>
        </p:nvSpPr>
        <p:spPr>
          <a:xfrm>
            <a:off x="4908974" y="845397"/>
            <a:ext cx="2383790"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实现思路</a:t>
            </a:r>
          </a:p>
        </p:txBody>
      </p:sp>
      <p:sp>
        <p:nvSpPr>
          <p:cNvPr id="36" name="文本框 35"/>
          <p:cNvSpPr txBox="1"/>
          <p:nvPr>
            <p:custDataLst>
              <p:tags r:id="rId2"/>
            </p:custDataLst>
          </p:nvPr>
        </p:nvSpPr>
        <p:spPr>
          <a:xfrm>
            <a:off x="4997626" y="2556832"/>
            <a:ext cx="3154755"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技术路径</a:t>
            </a:r>
          </a:p>
        </p:txBody>
      </p:sp>
      <p:grpSp>
        <p:nvGrpSpPr>
          <p:cNvPr id="37" name="组合 36"/>
          <p:cNvGrpSpPr/>
          <p:nvPr>
            <p:custDataLst>
              <p:tags r:id="rId3"/>
            </p:custDataLst>
          </p:nvPr>
        </p:nvGrpSpPr>
        <p:grpSpPr>
          <a:xfrm>
            <a:off x="4928024" y="1281007"/>
            <a:ext cx="6928485" cy="1153795"/>
            <a:chOff x="7454" y="2814"/>
            <a:chExt cx="10911" cy="1817"/>
          </a:xfrm>
        </p:grpSpPr>
        <p:sp>
          <p:nvSpPr>
            <p:cNvPr id="38" name="矩形: 圆角 11"/>
            <p:cNvSpPr/>
            <p:nvPr>
              <p:custDataLst>
                <p:tags r:id="rId16"/>
              </p:custDataLst>
            </p:nvPr>
          </p:nvSpPr>
          <p:spPr>
            <a:xfrm>
              <a:off x="7454" y="2814"/>
              <a:ext cx="10911" cy="1817"/>
            </a:xfrm>
            <a:prstGeom prst="roundRect">
              <a:avLst>
                <a:gd name="adj" fmla="val 0"/>
              </a:avLst>
            </a:prstGeom>
            <a:solidFill>
              <a:schemeClr val="bg1">
                <a:lumMod val="65000"/>
                <a:alpha val="10000"/>
              </a:schemeClr>
            </a:solidFill>
            <a:ln w="10160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grpSp>
          <p:nvGrpSpPr>
            <p:cNvPr id="39" name="组合 38"/>
            <p:cNvGrpSpPr/>
            <p:nvPr/>
          </p:nvGrpSpPr>
          <p:grpSpPr>
            <a:xfrm>
              <a:off x="7483" y="3321"/>
              <a:ext cx="1180" cy="672"/>
              <a:chOff x="461296" y="1545911"/>
              <a:chExt cx="420464" cy="239538"/>
            </a:xfrm>
          </p:grpSpPr>
          <p:sp>
            <p:nvSpPr>
              <p:cNvPr id="41" name="箭头: 五边形 31"/>
              <p:cNvSpPr/>
              <p:nvPr>
                <p:custDataLst>
                  <p:tags r:id="rId17"/>
                </p:custDataLst>
              </p:nvPr>
            </p:nvSpPr>
            <p:spPr>
              <a:xfrm>
                <a:off x="461296" y="1545911"/>
                <a:ext cx="373483" cy="239538"/>
              </a:xfrm>
              <a:prstGeom prst="homePlate">
                <a:avLst>
                  <a:gd name="adj" fmla="val 38296"/>
                </a:avLst>
              </a:prstGeom>
              <a:gradFill flip="none" rotWithShape="1">
                <a:gsLst>
                  <a:gs pos="0">
                    <a:schemeClr val="accent1"/>
                  </a:gs>
                  <a:gs pos="100000">
                    <a:schemeClr val="accent1">
                      <a:lumMod val="75000"/>
                    </a:schemeClr>
                  </a:gs>
                </a:gsLst>
                <a:lin ang="13500000" scaled="1"/>
                <a:tileRect/>
              </a:gradFill>
              <a:ln>
                <a:solidFill>
                  <a:schemeClr val="bg1"/>
                </a:solidFill>
              </a:ln>
              <a:effectLst>
                <a:outerShdw blurRad="127000" dist="254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
            <p:nvSpPr>
              <p:cNvPr id="42" name="文本框 41"/>
              <p:cNvSpPr txBox="1"/>
              <p:nvPr>
                <p:custDataLst>
                  <p:tags r:id="rId18"/>
                </p:custDataLst>
              </p:nvPr>
            </p:nvSpPr>
            <p:spPr>
              <a:xfrm>
                <a:off x="485498" y="1561660"/>
                <a:ext cx="396262" cy="223708"/>
              </a:xfrm>
              <a:prstGeom prst="rect">
                <a:avLst/>
              </a:prstGeom>
              <a:noFill/>
            </p:spPr>
            <p:txBody>
              <a:bodyPr wrap="square">
                <a:spAutoFit/>
              </a:bodyPr>
              <a:lstStyle/>
              <a:p>
                <a:r>
                  <a:rPr kumimoji="0" lang="en-US" altLang="zh-CN" sz="2000" b="1" i="0" u="none" strike="noStrike" kern="1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01</a:t>
                </a:r>
              </a:p>
            </p:txBody>
          </p:sp>
        </p:grpSp>
      </p:grpSp>
      <p:grpSp>
        <p:nvGrpSpPr>
          <p:cNvPr id="43" name="组合 42"/>
          <p:cNvGrpSpPr/>
          <p:nvPr>
            <p:custDataLst>
              <p:tags r:id="rId4"/>
            </p:custDataLst>
          </p:nvPr>
        </p:nvGrpSpPr>
        <p:grpSpPr>
          <a:xfrm>
            <a:off x="4928024" y="2978362"/>
            <a:ext cx="6928485" cy="1153795"/>
            <a:chOff x="7454" y="2814"/>
            <a:chExt cx="10911" cy="1817"/>
          </a:xfrm>
        </p:grpSpPr>
        <p:sp>
          <p:nvSpPr>
            <p:cNvPr id="44" name="矩形: 圆角 11"/>
            <p:cNvSpPr/>
            <p:nvPr>
              <p:custDataLst>
                <p:tags r:id="rId13"/>
              </p:custDataLst>
            </p:nvPr>
          </p:nvSpPr>
          <p:spPr>
            <a:xfrm>
              <a:off x="7454" y="2814"/>
              <a:ext cx="10911" cy="1817"/>
            </a:xfrm>
            <a:prstGeom prst="roundRect">
              <a:avLst>
                <a:gd name="adj" fmla="val 0"/>
              </a:avLst>
            </a:prstGeom>
            <a:solidFill>
              <a:schemeClr val="bg1">
                <a:lumMod val="65000"/>
                <a:alpha val="10000"/>
              </a:schemeClr>
            </a:solidFill>
            <a:ln w="10160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grpSp>
          <p:nvGrpSpPr>
            <p:cNvPr id="45" name="组合 44"/>
            <p:cNvGrpSpPr/>
            <p:nvPr/>
          </p:nvGrpSpPr>
          <p:grpSpPr>
            <a:xfrm>
              <a:off x="7483" y="3321"/>
              <a:ext cx="1180" cy="672"/>
              <a:chOff x="461296" y="1545911"/>
              <a:chExt cx="420464" cy="239603"/>
            </a:xfrm>
          </p:grpSpPr>
          <p:sp>
            <p:nvSpPr>
              <p:cNvPr id="47" name="箭头: 五边形 31"/>
              <p:cNvSpPr/>
              <p:nvPr>
                <p:custDataLst>
                  <p:tags r:id="rId14"/>
                </p:custDataLst>
              </p:nvPr>
            </p:nvSpPr>
            <p:spPr>
              <a:xfrm>
                <a:off x="461296" y="1545911"/>
                <a:ext cx="373483" cy="239538"/>
              </a:xfrm>
              <a:prstGeom prst="homePlate">
                <a:avLst>
                  <a:gd name="adj" fmla="val 38296"/>
                </a:avLst>
              </a:prstGeom>
              <a:gradFill flip="none" rotWithShape="1">
                <a:gsLst>
                  <a:gs pos="0">
                    <a:schemeClr val="accent1"/>
                  </a:gs>
                  <a:gs pos="100000">
                    <a:schemeClr val="accent1">
                      <a:lumMod val="75000"/>
                    </a:schemeClr>
                  </a:gs>
                </a:gsLst>
                <a:lin ang="13500000" scaled="1"/>
                <a:tileRect/>
              </a:gradFill>
              <a:ln>
                <a:solidFill>
                  <a:schemeClr val="bg1"/>
                </a:solidFill>
              </a:ln>
              <a:effectLst>
                <a:outerShdw blurRad="127000" dist="254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
            <p:nvSpPr>
              <p:cNvPr id="48" name="文本框 47"/>
              <p:cNvSpPr txBox="1"/>
              <p:nvPr>
                <p:custDataLst>
                  <p:tags r:id="rId15"/>
                </p:custDataLst>
              </p:nvPr>
            </p:nvSpPr>
            <p:spPr>
              <a:xfrm>
                <a:off x="485498" y="1561660"/>
                <a:ext cx="396262" cy="223854"/>
              </a:xfrm>
              <a:prstGeom prst="rect">
                <a:avLst/>
              </a:prstGeom>
              <a:noFill/>
            </p:spPr>
            <p:txBody>
              <a:bodyPr wrap="square">
                <a:spAutoFit/>
              </a:bodyPr>
              <a:lstStyle/>
              <a:p>
                <a:r>
                  <a:rPr kumimoji="0" lang="en-US" altLang="zh-CN" sz="2000" b="1" i="0" u="none" strike="noStrike" kern="1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02</a:t>
                </a:r>
              </a:p>
            </p:txBody>
          </p:sp>
        </p:grpSp>
      </p:grpSp>
      <p:sp>
        <p:nvSpPr>
          <p:cNvPr id="49" name="文本框 48"/>
          <p:cNvSpPr txBox="1"/>
          <p:nvPr>
            <p:custDataLst>
              <p:tags r:id="rId5"/>
            </p:custDataLst>
          </p:nvPr>
        </p:nvSpPr>
        <p:spPr>
          <a:xfrm>
            <a:off x="5003976" y="4199577"/>
            <a:ext cx="3154755"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关键差异</a:t>
            </a:r>
          </a:p>
        </p:txBody>
      </p:sp>
      <p:grpSp>
        <p:nvGrpSpPr>
          <p:cNvPr id="50" name="组合 49"/>
          <p:cNvGrpSpPr/>
          <p:nvPr>
            <p:custDataLst>
              <p:tags r:id="rId6"/>
            </p:custDataLst>
          </p:nvPr>
        </p:nvGrpSpPr>
        <p:grpSpPr>
          <a:xfrm>
            <a:off x="4934374" y="4621107"/>
            <a:ext cx="6928485" cy="1153795"/>
            <a:chOff x="7454" y="2814"/>
            <a:chExt cx="10911" cy="1817"/>
          </a:xfrm>
        </p:grpSpPr>
        <p:sp>
          <p:nvSpPr>
            <p:cNvPr id="51" name="矩形: 圆角 11"/>
            <p:cNvSpPr/>
            <p:nvPr>
              <p:custDataLst>
                <p:tags r:id="rId9"/>
              </p:custDataLst>
            </p:nvPr>
          </p:nvSpPr>
          <p:spPr>
            <a:xfrm>
              <a:off x="7454" y="2814"/>
              <a:ext cx="10911" cy="1817"/>
            </a:xfrm>
            <a:prstGeom prst="roundRect">
              <a:avLst>
                <a:gd name="adj" fmla="val 0"/>
              </a:avLst>
            </a:prstGeom>
            <a:solidFill>
              <a:schemeClr val="bg1">
                <a:lumMod val="65000"/>
                <a:alpha val="10000"/>
              </a:schemeClr>
            </a:solidFill>
            <a:ln w="101600">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grpSp>
          <p:nvGrpSpPr>
            <p:cNvPr id="52" name="组合 51"/>
            <p:cNvGrpSpPr/>
            <p:nvPr/>
          </p:nvGrpSpPr>
          <p:grpSpPr>
            <a:xfrm>
              <a:off x="7483" y="3321"/>
              <a:ext cx="1180" cy="672"/>
              <a:chOff x="461296" y="1545911"/>
              <a:chExt cx="420464" cy="239664"/>
            </a:xfrm>
          </p:grpSpPr>
          <p:sp>
            <p:nvSpPr>
              <p:cNvPr id="54" name="箭头: 五边形 31"/>
              <p:cNvSpPr/>
              <p:nvPr>
                <p:custDataLst>
                  <p:tags r:id="rId11"/>
                </p:custDataLst>
              </p:nvPr>
            </p:nvSpPr>
            <p:spPr>
              <a:xfrm>
                <a:off x="461296" y="1545911"/>
                <a:ext cx="373483" cy="239538"/>
              </a:xfrm>
              <a:prstGeom prst="homePlate">
                <a:avLst>
                  <a:gd name="adj" fmla="val 38296"/>
                </a:avLst>
              </a:prstGeom>
              <a:gradFill flip="none" rotWithShape="1">
                <a:gsLst>
                  <a:gs pos="0">
                    <a:schemeClr val="accent1"/>
                  </a:gs>
                  <a:gs pos="100000">
                    <a:schemeClr val="accent1">
                      <a:lumMod val="75000"/>
                    </a:schemeClr>
                  </a:gs>
                </a:gsLst>
                <a:lin ang="13500000" scaled="1"/>
                <a:tileRect/>
              </a:gradFill>
              <a:ln>
                <a:solidFill>
                  <a:schemeClr val="bg1"/>
                </a:solidFill>
              </a:ln>
              <a:effectLst>
                <a:outerShdw blurRad="127000" dist="254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charset="-122"/>
                  <a:cs typeface="+mn-cs"/>
                </a:endParaRPr>
              </a:p>
            </p:txBody>
          </p:sp>
          <p:sp>
            <p:nvSpPr>
              <p:cNvPr id="55" name="文本框 54"/>
              <p:cNvSpPr txBox="1"/>
              <p:nvPr>
                <p:custDataLst>
                  <p:tags r:id="rId12"/>
                </p:custDataLst>
              </p:nvPr>
            </p:nvSpPr>
            <p:spPr>
              <a:xfrm>
                <a:off x="485498" y="1561660"/>
                <a:ext cx="396262" cy="223915"/>
              </a:xfrm>
              <a:prstGeom prst="rect">
                <a:avLst/>
              </a:prstGeom>
              <a:noFill/>
            </p:spPr>
            <p:txBody>
              <a:bodyPr wrap="square">
                <a:spAutoFit/>
              </a:bodyPr>
              <a:lstStyle/>
              <a:p>
                <a:r>
                  <a:rPr kumimoji="0" lang="en-US" altLang="zh-CN" sz="2000" b="1" i="0" u="none" strike="noStrike" kern="1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03</a:t>
                </a:r>
              </a:p>
            </p:txBody>
          </p:sp>
        </p:grpSp>
        <p:sp>
          <p:nvSpPr>
            <p:cNvPr id="53" name="文本框 52"/>
            <p:cNvSpPr txBox="1"/>
            <p:nvPr>
              <p:custDataLst>
                <p:tags r:id="rId10"/>
              </p:custDataLst>
            </p:nvPr>
          </p:nvSpPr>
          <p:spPr>
            <a:xfrm>
              <a:off x="8521" y="3134"/>
              <a:ext cx="9449" cy="1037"/>
            </a:xfrm>
            <a:prstGeom prst="rect">
              <a:avLst/>
            </a:prstGeom>
            <a:noFill/>
          </p:spPr>
          <p:txBody>
            <a:bodyPr wrap="square" rtlCol="0" anchor="t">
              <a:spAutoFit/>
            </a:bodyPr>
            <a:lstStyle/>
            <a:p>
              <a:pPr>
                <a:lnSpc>
                  <a:spcPct val="120000"/>
                </a:lnSpc>
              </a:pPr>
              <a:r>
                <a:rPr lang="zh-CN" altLang="en-US" sz="1600" dirty="0">
                  <a:solidFill>
                    <a:schemeClr val="tx1"/>
                  </a:solidFill>
                  <a:latin typeface="Noto Sans SC" panose="020B0200000000000000" charset="-122"/>
                  <a:ea typeface="Noto Sans SC" panose="020B0200000000000000" charset="-122"/>
                  <a:cs typeface="微软雅黑" panose="020B0503020204020204" pitchFamily="34" charset="-122"/>
                  <a:sym typeface="+mn-ea"/>
                </a:rPr>
                <a:t>与 </a:t>
              </a:r>
              <a:r>
                <a:rPr lang="en-US" altLang="zh-CN" sz="1600" dirty="0">
                  <a:solidFill>
                    <a:schemeClr val="tx1"/>
                  </a:solidFill>
                  <a:latin typeface="Noto Sans SC" panose="020B0200000000000000" charset="-122"/>
                  <a:ea typeface="Noto Sans SC" panose="020B0200000000000000" charset="-122"/>
                  <a:cs typeface="微软雅黑" panose="020B0503020204020204" pitchFamily="34" charset="-122"/>
                  <a:sym typeface="+mn-ea"/>
                </a:rPr>
                <a:t>F3 </a:t>
              </a:r>
              <a:r>
                <a:rPr lang="zh-CN" altLang="en-US" sz="1600" dirty="0">
                  <a:solidFill>
                    <a:schemeClr val="tx1"/>
                  </a:solidFill>
                  <a:latin typeface="Noto Sans SC" panose="020B0200000000000000" charset="-122"/>
                  <a:ea typeface="Noto Sans SC" panose="020B0200000000000000" charset="-122"/>
                  <a:cs typeface="微软雅黑" panose="020B0503020204020204" pitchFamily="34" charset="-122"/>
                  <a:sym typeface="+mn-ea"/>
                </a:rPr>
                <a:t>的“点对点”相似用户检索不同，</a:t>
              </a:r>
              <a:r>
                <a:rPr lang="en-US" altLang="zh-CN" sz="1600" dirty="0">
                  <a:solidFill>
                    <a:schemeClr val="tx1"/>
                  </a:solidFill>
                  <a:latin typeface="Noto Sans SC" panose="020B0200000000000000" charset="-122"/>
                  <a:ea typeface="Noto Sans SC" panose="020B0200000000000000" charset="-122"/>
                  <a:cs typeface="微软雅黑" panose="020B0503020204020204" pitchFamily="34" charset="-122"/>
                  <a:sym typeface="+mn-ea"/>
                </a:rPr>
                <a:t>F7 </a:t>
              </a:r>
              <a:r>
                <a:rPr lang="zh-CN" altLang="en-US" sz="1600" dirty="0">
                  <a:solidFill>
                    <a:schemeClr val="tx1"/>
                  </a:solidFill>
                  <a:latin typeface="Noto Sans SC" panose="020B0200000000000000" charset="-122"/>
                  <a:ea typeface="Noto Sans SC" panose="020B0200000000000000" charset="-122"/>
                  <a:cs typeface="微软雅黑" panose="020B0503020204020204" pitchFamily="34" charset="-122"/>
                  <a:sym typeface="+mn-ea"/>
                </a:rPr>
                <a:t>提供的是</a:t>
              </a:r>
              <a:r>
                <a:rPr lang="zh-CN" altLang="en-US" sz="1600" b="1" dirty="0">
                  <a:solidFill>
                    <a:schemeClr val="tx2"/>
                  </a:solidFill>
                  <a:latin typeface="Noto Sans SC" panose="020B0200000000000000" charset="-122"/>
                  <a:ea typeface="Noto Sans SC" panose="020B0200000000000000" charset="-122"/>
                  <a:cs typeface="微软雅黑" panose="020B0503020204020204" pitchFamily="34" charset="-122"/>
                  <a:sym typeface="+mn-ea"/>
                </a:rPr>
                <a:t>“全局”</a:t>
              </a:r>
              <a:r>
                <a:rPr lang="zh-CN" altLang="en-US" sz="1600" dirty="0">
                  <a:solidFill>
                    <a:schemeClr val="tx1"/>
                  </a:solidFill>
                  <a:latin typeface="Noto Sans SC" panose="020B0200000000000000" charset="-122"/>
                  <a:ea typeface="Noto Sans SC" panose="020B0200000000000000" charset="-122"/>
                  <a:cs typeface="微软雅黑" panose="020B0503020204020204" pitchFamily="34" charset="-122"/>
                  <a:sym typeface="+mn-ea"/>
                </a:rPr>
                <a:t>的用户群体划分，为精准推荐和精细化运营提供静态分析结论。</a:t>
              </a:r>
            </a:p>
          </p:txBody>
        </p:sp>
      </p:grpSp>
      <p:cxnSp>
        <p:nvCxnSpPr>
          <p:cNvPr id="56" name="直接箭头连接符 55"/>
          <p:cNvCxnSpPr/>
          <p:nvPr>
            <p:custDataLst>
              <p:tags r:id="rId7"/>
            </p:custDataLst>
          </p:nvPr>
        </p:nvCxnSpPr>
        <p:spPr>
          <a:xfrm>
            <a:off x="4963948" y="1257570"/>
            <a:ext cx="1541" cy="4732597"/>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5612015" y="1484644"/>
            <a:ext cx="6096000" cy="650050"/>
          </a:xfrm>
          <a:prstGeom prst="rect">
            <a:avLst/>
          </a:prstGeom>
          <a:noFill/>
        </p:spPr>
        <p:txBody>
          <a:bodyPr wrap="square">
            <a:spAutoFit/>
          </a:bodyPr>
          <a:lstStyle/>
          <a:p>
            <a:pPr marL="0" indent="0" algn="l">
              <a:lnSpc>
                <a:spcPct val="117000"/>
              </a:lnSpc>
              <a:defRPr/>
            </a:pP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复用F3模块中已构建好的、存储在Qdrant向量数据库中的用户向量，直接进行聚类，避免重复计算，提升处理效率。</a:t>
            </a:r>
            <a:endParaRPr lang="en-US" altLang="zh-CN" sz="1200" dirty="0"/>
          </a:p>
        </p:txBody>
      </p:sp>
      <p:sp>
        <p:nvSpPr>
          <p:cNvPr id="59" name="AutoShape 10"/>
          <p:cNvSpPr/>
          <p:nvPr>
            <p:custDataLst>
              <p:tags r:id="rId8"/>
            </p:custDataLst>
          </p:nvPr>
        </p:nvSpPr>
        <p:spPr>
          <a:xfrm>
            <a:off x="5695739" y="3099760"/>
            <a:ext cx="5795831" cy="945406"/>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全量数据获取</a:t>
            </a:r>
            <a:r>
              <a:rPr lang="zh-CN" alt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使用Scroll</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API高效拉取所有用户向量</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dirty="0"/>
          </a:p>
          <a:p>
            <a:pPr marL="0" indent="0" algn="l">
              <a:lnSpc>
                <a:spcPct val="117000"/>
              </a:lnSpc>
            </a:pP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 </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聚类算法</a:t>
            </a:r>
            <a:r>
              <a:rPr lang="zh-CN" alt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K-Means++ </a:t>
            </a: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算法，基于归一化后的余弦距离（欧氏距离）进行分群</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8"/>
          <p:cNvSpPr txBox="1"/>
          <p:nvPr/>
        </p:nvSpPr>
        <p:spPr>
          <a:xfrm>
            <a:off x="1266091" y="-21277"/>
            <a:ext cx="10925909" cy="6879277"/>
          </a:xfrm>
          <a:prstGeom prst="rect">
            <a:avLst/>
          </a:prstGeom>
          <a:gradFill>
            <a:gsLst>
              <a:gs pos="0">
                <a:schemeClr val="accent2">
                  <a:alpha val="26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925830" y="223199"/>
            <a:ext cx="10829762" cy="504000"/>
          </a:xfrm>
          <a:prstGeom prst="rect">
            <a:avLst/>
          </a:prstGeom>
          <a:noFill/>
          <a:ln cap="sq">
            <a:noFill/>
          </a:ln>
        </p:spPr>
        <p:txBody>
          <a:bodyPr vert="horz" wrap="square" lIns="0" tIns="0" rIns="0" bIns="0" rtlCol="0" anchor="ctr"/>
          <a:lstStyle/>
          <a:p>
            <a:pPr algn="l">
              <a:lnSpc>
                <a:spcPct val="130000"/>
              </a:lnSpc>
            </a:pPr>
            <a:r>
              <a:rPr kumimoji="1" lang="en-US" altLang="zh-CN" sz="2800" b="1" dirty="0">
                <a:ln w="12700">
                  <a:noFill/>
                </a:ln>
                <a:solidFill>
                  <a:srgbClr val="262626">
                    <a:alpha val="100000"/>
                  </a:srgbClr>
                </a:solidFill>
                <a:latin typeface="微软雅黑" panose="020B0503020204020204" pitchFamily="34" charset="-122"/>
                <a:ea typeface="微软雅黑" panose="020B0503020204020204" pitchFamily="34" charset="-122"/>
              </a:rPr>
              <a:t>F7	</a:t>
            </a:r>
            <a:r>
              <a:rPr kumimoji="1" lang="zh-CN" altLang="en-US" sz="2800" b="1" dirty="0">
                <a:ln w="12700">
                  <a:noFill/>
                </a:ln>
                <a:solidFill>
                  <a:srgbClr val="262626">
                    <a:alpha val="100000"/>
                  </a:srgbClr>
                </a:solidFill>
                <a:latin typeface="微软雅黑" panose="020B0503020204020204" pitchFamily="34" charset="-122"/>
                <a:ea typeface="微软雅黑" panose="020B0503020204020204" pitchFamily="34" charset="-122"/>
              </a:rPr>
              <a:t>用户聚类分析</a:t>
            </a:r>
            <a:endParaRPr kumimoji="1" lang="zh-CN" altLang="en-US" b="1" dirty="0">
              <a:latin typeface="微软雅黑" panose="020B0503020204020204" pitchFamily="34" charset="-122"/>
              <a:ea typeface="微软雅黑" panose="020B0503020204020204" pitchFamily="34" charset="-122"/>
            </a:endParaRPr>
          </a:p>
        </p:txBody>
      </p:sp>
      <p:sp>
        <p:nvSpPr>
          <p:cNvPr id="12" name="箭头: V 形 1"/>
          <p:cNvSpPr txBox="1"/>
          <p:nvPr/>
        </p:nvSpPr>
        <p:spPr>
          <a:xfrm>
            <a:off x="158514"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箭头: V 形 8"/>
          <p:cNvSpPr txBox="1"/>
          <p:nvPr/>
        </p:nvSpPr>
        <p:spPr>
          <a:xfrm>
            <a:off x="392363" y="320700"/>
            <a:ext cx="181744" cy="315059"/>
          </a:xfrm>
          <a:prstGeom prst="chevron">
            <a:avLst>
              <a:gd name="adj" fmla="val 81458"/>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箭头: V 形 9"/>
          <p:cNvSpPr txBox="1"/>
          <p:nvPr/>
        </p:nvSpPr>
        <p:spPr>
          <a:xfrm>
            <a:off x="492897" y="320700"/>
            <a:ext cx="315059" cy="315059"/>
          </a:xfrm>
          <a:prstGeom prst="chevr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矩形: 圆角 1"/>
          <p:cNvSpPr/>
          <p:nvPr/>
        </p:nvSpPr>
        <p:spPr>
          <a:xfrm>
            <a:off x="492971" y="3697181"/>
            <a:ext cx="3520440" cy="525145"/>
          </a:xfrm>
          <a:prstGeom prst="roundRect">
            <a:avLst>
              <a:gd name="adj" fmla="val 0"/>
            </a:avLst>
          </a:prstGeom>
          <a:gradFill flip="none" rotWithShape="1">
            <a:gsLst>
              <a:gs pos="0">
                <a:schemeClr val="accent1">
                  <a:alpha val="5000"/>
                </a:schemeClr>
              </a:gs>
              <a:gs pos="100000">
                <a:schemeClr val="accent1">
                  <a:alpha val="0"/>
                </a:schemeClr>
              </a:gs>
            </a:gsLst>
            <a:lin ang="5400000" scaled="1"/>
            <a:tileRect/>
          </a:gradFill>
          <a:ln w="3175" cap="flat" cmpd="sng" algn="ctr">
            <a:solidFill>
              <a:schemeClr val="accent1">
                <a:alpha val="50000"/>
              </a:schemeClr>
            </a:solidFill>
            <a:prstDash val="solid"/>
            <a:miter lim="800000"/>
          </a:ln>
          <a:effectLst/>
        </p:spPr>
        <p:txBody>
          <a:bodyPr rtlCol="0" anchor="ctr"/>
          <a:lstStyle/>
          <a:p>
            <a:pPr algn="ctr"/>
            <a:endParaRPr lang="zh-CN" altLang="en-US" sz="1350" kern="0">
              <a:solidFill>
                <a:prstClr val="white"/>
              </a:solidFill>
              <a:latin typeface="Roboto"/>
              <a:ea typeface="等线" panose="02010600030101010101" charset="-122"/>
            </a:endParaRPr>
          </a:p>
        </p:txBody>
      </p:sp>
      <p:sp>
        <p:nvSpPr>
          <p:cNvPr id="6" name="矩形: 圆角 5"/>
          <p:cNvSpPr/>
          <p:nvPr/>
        </p:nvSpPr>
        <p:spPr>
          <a:xfrm>
            <a:off x="4733621" y="391737"/>
            <a:ext cx="6675398" cy="594360"/>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10" name="矩形 9"/>
          <p:cNvSpPr/>
          <p:nvPr/>
        </p:nvSpPr>
        <p:spPr>
          <a:xfrm>
            <a:off x="4733620" y="1131048"/>
            <a:ext cx="6675399" cy="3401568"/>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15" name="矩形: 圆角 14"/>
          <p:cNvSpPr/>
          <p:nvPr/>
        </p:nvSpPr>
        <p:spPr>
          <a:xfrm>
            <a:off x="4724477" y="4677567"/>
            <a:ext cx="6684542" cy="1735057"/>
          </a:xfrm>
          <a:prstGeom prst="roundRect">
            <a:avLst>
              <a:gd name="adj" fmla="val 0"/>
            </a:avLst>
          </a:prstGeom>
          <a:solidFill>
            <a:schemeClr val="accent1">
              <a:alpha val="1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16" name="文本框 15"/>
          <p:cNvSpPr txBox="1"/>
          <p:nvPr/>
        </p:nvSpPr>
        <p:spPr>
          <a:xfrm>
            <a:off x="5061929" y="445376"/>
            <a:ext cx="6147708" cy="429895"/>
          </a:xfrm>
          <a:prstGeom prst="rect">
            <a:avLst/>
          </a:prstGeom>
          <a:noFill/>
        </p:spPr>
        <p:txBody>
          <a:bodyPr wrap="square">
            <a:spAutoFit/>
          </a:bodyPr>
          <a:lstStyle/>
          <a:p>
            <a:pPr algn="ctr" rtl="0">
              <a:defRPr sz="1860" b="0" i="0" u="none" strike="noStrike" kern="1200" spc="0" baseline="0">
                <a:solidFill>
                  <a:srgbClr val="000000">
                    <a:lumMod val="65000"/>
                    <a:lumOff val="35000"/>
                  </a:srgbClr>
                </a:solidFill>
                <a:latin typeface="Alibaba PuHuiTi Medium" pitchFamily="18" charset="-122"/>
                <a:ea typeface="Alibaba PuHuiTi Medium" pitchFamily="18" charset="-122"/>
                <a:cs typeface="Alibaba PuHuiTi Medium" pitchFamily="18" charset="-122"/>
              </a:defRPr>
            </a:pPr>
            <a:r>
              <a:rPr lang="zh-CN" altLang="en-US" sz="2200" b="1" dirty="0">
                <a:solidFill>
                  <a:schemeClr val="bg1"/>
                </a:solidFill>
                <a:latin typeface="微软雅黑" panose="020B0503020204020204" pitchFamily="34" charset="-122"/>
                <a:ea typeface="微软雅黑" panose="020B0503020204020204" pitchFamily="34" charset="-122"/>
                <a:sym typeface="+mn-ea"/>
              </a:rPr>
              <a:t>聚类结果可视化</a:t>
            </a:r>
            <a:endParaRPr lang="zh-CN" altLang="en-US" sz="2200" b="1"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flipH="1">
            <a:off x="4781451" y="4726168"/>
            <a:ext cx="6499392" cy="1670201"/>
          </a:xfrm>
          <a:prstGeom prst="rect">
            <a:avLst/>
          </a:prstGeom>
          <a:ln>
            <a:noFill/>
          </a:ln>
        </p:spPr>
        <p:txBody>
          <a:bodyPr wrap="square" lIns="91440" tIns="45720" rIns="91440" bIns="45720" anchor="t">
            <a:spAutoFit/>
          </a:bodyPr>
          <a:lstStyle/>
          <a:p>
            <a:pPr>
              <a:lnSpc>
                <a:spcPct val="150000"/>
              </a:lnSpc>
            </a:pPr>
            <a:r>
              <a:rPr lang="en-US" altLang="zh-CN" sz="1400" b="1"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t-SNE </a:t>
            </a:r>
            <a:r>
              <a:rPr lang="zh-CN" altLang="en-US" sz="1400" b="1"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降维可视化</a:t>
            </a:r>
            <a:r>
              <a:rPr lang="zh-CN" altLang="en-US"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结果表明，本次</a:t>
            </a:r>
            <a:r>
              <a:rPr lang="zh-CN" altLang="en-US" sz="1400" b="1"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用户聚类效果良好</a:t>
            </a:r>
            <a:r>
              <a:rPr lang="zh-CN" altLang="en-US"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50000"/>
              </a:lnSpc>
            </a:pPr>
            <a:r>
              <a:rPr lang="zh-CN" altLang="en-US" sz="1400" b="1"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整体聚类清晰：</a:t>
            </a:r>
            <a:r>
              <a:rPr lang="en-US" altLang="zh-CN"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 </a:t>
            </a:r>
            <a:r>
              <a:rPr lang="zh-CN" altLang="en-US"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个用户簇在二维空间中大多形成了</a:t>
            </a:r>
            <a:r>
              <a:rPr lang="zh-CN" altLang="en-US" sz="1400" b="1"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边界清晰、聚集度高</a:t>
            </a:r>
            <a:r>
              <a:rPr lang="zh-CN" altLang="en-US"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的独立团块，用户兴趣区分度显著。</a:t>
            </a:r>
            <a:endParaRPr lang="en-US" altLang="zh-CN"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50000"/>
              </a:lnSpc>
            </a:pPr>
            <a:r>
              <a:rPr lang="zh-CN" altLang="en-US" sz="1400" b="1"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局部交叉合理：</a:t>
            </a:r>
            <a:r>
              <a:rPr lang="zh-CN" altLang="en-US"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少数簇存在空间邻近或轻微重叠，反映了用户画像的自然交叉性，体现了兴趣偏好的关联性与延伸性。</a:t>
            </a:r>
            <a:endParaRPr lang="en-US" altLang="zh-CN" sz="1400" dirty="0">
              <a:solidFill>
                <a:schemeClr val="tx1">
                  <a:lumMod val="75000"/>
                  <a:lumOff val="2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任意形状 24"/>
          <p:cNvSpPr/>
          <p:nvPr/>
        </p:nvSpPr>
        <p:spPr>
          <a:xfrm>
            <a:off x="498051" y="1486111"/>
            <a:ext cx="3515360" cy="1900555"/>
          </a:xfrm>
          <a:custGeom>
            <a:avLst/>
            <a:gdLst>
              <a:gd name="connsiteX0" fmla="*/ 0 w 3515360"/>
              <a:gd name="connsiteY0" fmla="*/ 0 h 881380"/>
              <a:gd name="connsiteX1" fmla="*/ 3515360 w 3515360"/>
              <a:gd name="connsiteY1" fmla="*/ 0 h 881380"/>
              <a:gd name="connsiteX2" fmla="*/ 3515360 w 3515360"/>
              <a:gd name="connsiteY2" fmla="*/ 881380 h 881380"/>
              <a:gd name="connsiteX3" fmla="*/ 0 w 3515360"/>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60" h="881380">
                <a:moveTo>
                  <a:pt x="0" y="0"/>
                </a:moveTo>
                <a:lnTo>
                  <a:pt x="3515360" y="0"/>
                </a:lnTo>
                <a:lnTo>
                  <a:pt x="3515360" y="881380"/>
                </a:lnTo>
                <a:lnTo>
                  <a:pt x="0" y="881380"/>
                </a:lnTo>
                <a:close/>
              </a:path>
            </a:pathLst>
          </a:custGeom>
          <a:solidFill>
            <a:schemeClr val="bg1">
              <a:lumMod val="95000"/>
            </a:schemeClr>
          </a:solidFill>
          <a:ln w="12700" cap="flat">
            <a:noFill/>
            <a:prstDash val="solid"/>
            <a:miter/>
          </a:ln>
        </p:spPr>
        <p:txBody>
          <a:bodyPr rtlCol="0" anchor="ctr"/>
          <a:lstStyle/>
          <a:p>
            <a:endParaRPr lang="zh-CN" altLang="en-US">
              <a:latin typeface="微软雅黑" panose="020B0503020204020204" pitchFamily="34" charset="-122"/>
              <a:ea typeface="微软雅黑" panose="020B0503020204020204" pitchFamily="34" charset="-122"/>
            </a:endParaRPr>
          </a:p>
        </p:txBody>
      </p:sp>
      <p:sp>
        <p:nvSpPr>
          <p:cNvPr id="20" name="矩形: 圆角 14"/>
          <p:cNvSpPr/>
          <p:nvPr/>
        </p:nvSpPr>
        <p:spPr>
          <a:xfrm>
            <a:off x="498051" y="967316"/>
            <a:ext cx="3520440" cy="525145"/>
          </a:xfrm>
          <a:prstGeom prst="roundRect">
            <a:avLst>
              <a:gd name="adj" fmla="val 0"/>
            </a:avLst>
          </a:prstGeom>
          <a:gradFill flip="none" rotWithShape="1">
            <a:gsLst>
              <a:gs pos="0">
                <a:schemeClr val="accent1">
                  <a:alpha val="5000"/>
                </a:schemeClr>
              </a:gs>
              <a:gs pos="100000">
                <a:schemeClr val="accent1">
                  <a:alpha val="0"/>
                </a:schemeClr>
              </a:gs>
            </a:gsLst>
            <a:lin ang="5400000" scaled="1"/>
            <a:tileRect/>
          </a:gradFill>
          <a:ln w="3175" cap="flat" cmpd="sng" algn="ctr">
            <a:solidFill>
              <a:schemeClr val="accent1">
                <a:alpha val="50000"/>
              </a:schemeClr>
            </a:solidFill>
            <a:prstDash val="solid"/>
            <a:miter lim="800000"/>
          </a:ln>
          <a:effectLst/>
        </p:spPr>
        <p:txBody>
          <a:bodyPr rtlCol="0" anchor="ctr"/>
          <a:lstStyle/>
          <a:p>
            <a:pPr algn="ctr"/>
            <a:endParaRPr lang="zh-CN" altLang="en-US" sz="1350" kern="0" dirty="0">
              <a:solidFill>
                <a:prstClr val="white"/>
              </a:solidFill>
              <a:latin typeface="Roboto"/>
              <a:ea typeface="等线" panose="02010600030101010101" charset="-122"/>
            </a:endParaRPr>
          </a:p>
        </p:txBody>
      </p:sp>
      <p:sp>
        <p:nvSpPr>
          <p:cNvPr id="21" name="文本框 20"/>
          <p:cNvSpPr txBox="1"/>
          <p:nvPr/>
        </p:nvSpPr>
        <p:spPr>
          <a:xfrm>
            <a:off x="1333711" y="1009226"/>
            <a:ext cx="1826260" cy="400110"/>
          </a:xfrm>
          <a:prstGeom prst="rect">
            <a:avLst/>
          </a:prstGeom>
          <a:noFill/>
        </p:spPr>
        <p:txBody>
          <a:bodyPr wrap="square" rtlCol="0">
            <a:spAutoFit/>
          </a:bodyPr>
          <a:lstStyle/>
          <a:p>
            <a:pPr algn="ctr"/>
            <a:r>
              <a:rPr kumimoji="1" lang="zh-CN" altLang="en-US" sz="2000" b="1" dirty="0">
                <a:solidFill>
                  <a:schemeClr val="accent1"/>
                </a:solidFill>
                <a:latin typeface="微软雅黑" panose="020B0503020204020204" pitchFamily="34" charset="-122"/>
                <a:ea typeface="微软雅黑" panose="020B0503020204020204" pitchFamily="34" charset="-122"/>
                <a:cs typeface="Alibaba PuHuiTi" pitchFamily="18" charset="-122"/>
              </a:rPr>
              <a:t>单簇可视化</a:t>
            </a:r>
          </a:p>
        </p:txBody>
      </p:sp>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rcRect l="2115" r="2115"/>
          <a:stretch>
            <a:fillRect/>
          </a:stretch>
        </p:blipFill>
        <p:spPr>
          <a:xfrm>
            <a:off x="574108" y="1488864"/>
            <a:ext cx="3342898" cy="1897802"/>
          </a:xfrm>
          <a:prstGeom prst="rect">
            <a:avLst/>
          </a:prstGeom>
        </p:spPr>
      </p:pic>
      <p:sp>
        <p:nvSpPr>
          <p:cNvPr id="23" name="任意形状 13"/>
          <p:cNvSpPr/>
          <p:nvPr/>
        </p:nvSpPr>
        <p:spPr>
          <a:xfrm>
            <a:off x="503131" y="4222326"/>
            <a:ext cx="3515360" cy="2179320"/>
          </a:xfrm>
          <a:custGeom>
            <a:avLst/>
            <a:gdLst>
              <a:gd name="connsiteX0" fmla="*/ 0 w 3515360"/>
              <a:gd name="connsiteY0" fmla="*/ 0 h 881380"/>
              <a:gd name="connsiteX1" fmla="*/ 3515360 w 3515360"/>
              <a:gd name="connsiteY1" fmla="*/ 0 h 881380"/>
              <a:gd name="connsiteX2" fmla="*/ 3515360 w 3515360"/>
              <a:gd name="connsiteY2" fmla="*/ 881380 h 881380"/>
              <a:gd name="connsiteX3" fmla="*/ 0 w 3515360"/>
              <a:gd name="connsiteY3" fmla="*/ 881380 h 881380"/>
            </a:gdLst>
            <a:ahLst/>
            <a:cxnLst>
              <a:cxn ang="0">
                <a:pos x="connsiteX0" y="connsiteY0"/>
              </a:cxn>
              <a:cxn ang="0">
                <a:pos x="connsiteX1" y="connsiteY1"/>
              </a:cxn>
              <a:cxn ang="0">
                <a:pos x="connsiteX2" y="connsiteY2"/>
              </a:cxn>
              <a:cxn ang="0">
                <a:pos x="connsiteX3" y="connsiteY3"/>
              </a:cxn>
            </a:cxnLst>
            <a:rect l="l" t="t" r="r" b="b"/>
            <a:pathLst>
              <a:path w="3515360" h="881380">
                <a:moveTo>
                  <a:pt x="0" y="0"/>
                </a:moveTo>
                <a:lnTo>
                  <a:pt x="3515360" y="0"/>
                </a:lnTo>
                <a:lnTo>
                  <a:pt x="3515360" y="881380"/>
                </a:lnTo>
                <a:lnTo>
                  <a:pt x="0" y="881380"/>
                </a:lnTo>
                <a:close/>
              </a:path>
            </a:pathLst>
          </a:custGeom>
          <a:solidFill>
            <a:schemeClr val="bg1">
              <a:lumMod val="95000"/>
            </a:schemeClr>
          </a:solidFill>
          <a:ln w="12700" cap="flat">
            <a:noFill/>
            <a:prstDash val="solid"/>
            <a:miter/>
          </a:ln>
        </p:spPr>
        <p:txBody>
          <a:bodyPr rtlCol="0" anchor="ctr"/>
          <a:lstStyle/>
          <a:p>
            <a:endParaRPr lang="zh-CN" altLang="en-US">
              <a:latin typeface="微软雅黑" panose="020B0503020204020204" pitchFamily="34" charset="-122"/>
              <a:ea typeface="微软雅黑" panose="020B0503020204020204" pitchFamily="34" charset="-122"/>
            </a:endParaRPr>
          </a:p>
        </p:txBody>
      </p:sp>
      <p:sp>
        <p:nvSpPr>
          <p:cNvPr id="24" name="文本框 23"/>
          <p:cNvSpPr txBox="1"/>
          <p:nvPr/>
        </p:nvSpPr>
        <p:spPr>
          <a:xfrm>
            <a:off x="729190" y="3748616"/>
            <a:ext cx="2953809" cy="400110"/>
          </a:xfrm>
          <a:prstGeom prst="rect">
            <a:avLst/>
          </a:prstGeom>
          <a:noFill/>
        </p:spPr>
        <p:txBody>
          <a:bodyPr wrap="square" rtlCol="0">
            <a:spAutoFit/>
          </a:bodyPr>
          <a:lstStyle/>
          <a:p>
            <a:pPr lvl="0" algn="ctr">
              <a:buClrTx/>
              <a:buSzTx/>
              <a:buFontTx/>
            </a:pPr>
            <a:r>
              <a:rPr kumimoji="1" lang="zh-CN" altLang="en-US" sz="2000" b="1" dirty="0">
                <a:solidFill>
                  <a:schemeClr val="accent1"/>
                </a:solidFill>
                <a:latin typeface="微软雅黑" panose="020B0503020204020204" pitchFamily="34" charset="-122"/>
                <a:ea typeface="微软雅黑" panose="020B0503020204020204" pitchFamily="34" charset="-122"/>
                <a:cs typeface="Alibaba PuHuiTi" pitchFamily="18" charset="-122"/>
                <a:sym typeface="+mn-ea"/>
              </a:rPr>
              <a:t>簇内样本与解释分析</a:t>
            </a:r>
          </a:p>
        </p:txBody>
      </p:sp>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01960" y="4366499"/>
            <a:ext cx="3315046" cy="1888572"/>
          </a:xfrm>
          <a:prstGeom prst="rect">
            <a:avLst/>
          </a:prstGeom>
        </p:spPr>
      </p:pic>
      <p:pic>
        <p:nvPicPr>
          <p:cNvPr id="27" name="图片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29318" y="1139511"/>
            <a:ext cx="5658814" cy="33814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3"/>
          <p:cNvSpPr txBox="1"/>
          <p:nvPr/>
        </p:nvSpPr>
        <p:spPr>
          <a:xfrm>
            <a:off x="0" y="0"/>
            <a:ext cx="12192000" cy="6858000"/>
          </a:xfrm>
          <a:prstGeom prst="rect">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矩形 4"/>
          <p:cNvSpPr txBox="1"/>
          <p:nvPr/>
        </p:nvSpPr>
        <p:spPr>
          <a:xfrm flipH="1" flipV="1">
            <a:off x="0" y="0"/>
            <a:ext cx="8862646" cy="5580185"/>
          </a:xfrm>
          <a:prstGeom prst="rect">
            <a:avLst/>
          </a:prstGeom>
          <a:gradFill>
            <a:gsLst>
              <a:gs pos="0">
                <a:schemeClr val="accent2">
                  <a:alpha val="35000"/>
                </a:schemeClr>
              </a:gs>
              <a:gs pos="44000">
                <a:schemeClr val="accent2">
                  <a:alpha val="0"/>
                </a:schemeClr>
              </a:gs>
            </a:gsLst>
            <a:path path="circle">
              <a:fillToRect l="100000" t="100000"/>
            </a:path>
            <a:tileRect r="-100000" b="-10000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椭圆 5"/>
          <p:cNvSpPr txBox="1"/>
          <p:nvPr/>
        </p:nvSpPr>
        <p:spPr>
          <a:xfrm flipH="1">
            <a:off x="6142892" y="-3894124"/>
            <a:ext cx="8323489" cy="8323489"/>
          </a:xfrm>
          <a:prstGeom prst="ellipse">
            <a:avLst/>
          </a:prstGeom>
          <a:gradFill>
            <a:gsLst>
              <a:gs pos="0">
                <a:schemeClr val="accent1">
                  <a:alpha val="49000"/>
                </a:schemeClr>
              </a:gs>
              <a:gs pos="82000">
                <a:schemeClr val="accent1">
                  <a:alpha val="0"/>
                </a:schemeClr>
              </a:gs>
            </a:gsLst>
            <a:path path="circle">
              <a:fillToRect l="100000" t="100000"/>
            </a:path>
            <a:tileRect r="-100000" b="-100000"/>
          </a:gradFill>
          <a:ln w="12700" cap="sq">
            <a:solidFill>
              <a:schemeClr val="bg1"/>
            </a:solidFill>
            <a:miter/>
          </a:ln>
          <a:effectLst>
            <a:outerShdw blurRad="419100" dist="304800" dir="8100000" algn="tr" rotWithShape="0">
              <a:schemeClr val="accent1">
                <a:alpha val="2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弧形 25"/>
          <p:cNvSpPr txBox="1"/>
          <p:nvPr/>
        </p:nvSpPr>
        <p:spPr>
          <a:xfrm>
            <a:off x="-773723" y="750277"/>
            <a:ext cx="2534261" cy="2534261"/>
          </a:xfrm>
          <a:prstGeom prst="arc">
            <a:avLst>
              <a:gd name="adj1" fmla="val 12908053"/>
              <a:gd name="adj2" fmla="val 4933653"/>
            </a:avLst>
          </a:prstGeom>
          <a:noFill/>
          <a:ln w="635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6" name="椭圆 24"/>
          <p:cNvSpPr txBox="1"/>
          <p:nvPr/>
        </p:nvSpPr>
        <p:spPr>
          <a:xfrm>
            <a:off x="435512" y="609600"/>
            <a:ext cx="289560" cy="289560"/>
          </a:xfrm>
          <a:prstGeom prst="ellipse">
            <a:avLst/>
          </a:prstGeom>
          <a:gradFill>
            <a:gsLst>
              <a:gs pos="0">
                <a:schemeClr val="accent2"/>
              </a:gs>
              <a:gs pos="100000">
                <a:schemeClr val="accent2">
                  <a:lumMod val="75000"/>
                </a:schemeClr>
              </a:gs>
            </a:gsLst>
            <a:path path="circle">
              <a:fillToRect l="100000" t="100000"/>
            </a:path>
            <a:tileRect r="-100000" b="-100000"/>
          </a:gradFill>
          <a:ln w="12700" cap="sq">
            <a:noFill/>
            <a:miter/>
          </a:ln>
          <a:effectLst>
            <a:outerShdw blurRad="190500" sx="102000" sy="102000" algn="ctr" rotWithShape="0">
              <a:srgbClr val="000000">
                <a:alpha val="32000"/>
              </a:srgbClr>
            </a:outerShdw>
          </a:effectLst>
        </p:spPr>
        <p:txBody>
          <a:bodyPr vert="horz" wrap="square" lIns="91440" tIns="45720" rIns="91440" bIns="45720" rtlCol="0" anchor="ctr"/>
          <a:lstStyle/>
          <a:p>
            <a:pPr algn="ctr">
              <a:lnSpc>
                <a:spcPct val="110000"/>
              </a:lnSpc>
            </a:pPr>
            <a:endParaRPr kumimoji="1" lang="zh-CN" altLang="en-US"/>
          </a:p>
        </p:txBody>
      </p:sp>
      <p:sp>
        <p:nvSpPr>
          <p:cNvPr id="7" name="任意多边形: 形状 32"/>
          <p:cNvSpPr txBox="1"/>
          <p:nvPr/>
        </p:nvSpPr>
        <p:spPr>
          <a:xfrm>
            <a:off x="0" y="1341120"/>
            <a:ext cx="8636854" cy="3657600"/>
          </a:xfrm>
          <a:custGeom>
            <a:avLst/>
            <a:gdLst>
              <a:gd name="connsiteX0" fmla="*/ 0 w 8564880"/>
              <a:gd name="connsiteY0" fmla="*/ 0 h 3627120"/>
              <a:gd name="connsiteX1" fmla="*/ 6751320 w 8564880"/>
              <a:gd name="connsiteY1" fmla="*/ 0 h 3627120"/>
              <a:gd name="connsiteX2" fmla="*/ 8564880 w 8564880"/>
              <a:gd name="connsiteY2" fmla="*/ 1813560 h 3627120"/>
              <a:gd name="connsiteX3" fmla="*/ 6751320 w 8564880"/>
              <a:gd name="connsiteY3" fmla="*/ 3627120 h 3627120"/>
              <a:gd name="connsiteX4" fmla="*/ 0 w 8564880"/>
              <a:gd name="connsiteY4" fmla="*/ 3627120 h 3627120"/>
              <a:gd name="connsiteX5" fmla="*/ 0 w 8564880"/>
              <a:gd name="connsiteY5" fmla="*/ 0 h 3627120"/>
            </a:gdLst>
            <a:ahLst/>
            <a:cxnLst/>
            <a:rect l="l" t="t" r="r" b="b"/>
            <a:pathLst>
              <a:path w="8564880" h="3627120">
                <a:moveTo>
                  <a:pt x="0" y="0"/>
                </a:moveTo>
                <a:lnTo>
                  <a:pt x="6751320" y="0"/>
                </a:lnTo>
                <a:cubicBezTo>
                  <a:pt x="7752922" y="0"/>
                  <a:pt x="8564880" y="811958"/>
                  <a:pt x="8564880" y="1813560"/>
                </a:cubicBezTo>
                <a:cubicBezTo>
                  <a:pt x="8564880" y="2815162"/>
                  <a:pt x="7752922" y="3627120"/>
                  <a:pt x="6751320" y="3627120"/>
                </a:cubicBezTo>
                <a:lnTo>
                  <a:pt x="0" y="3627120"/>
                </a:lnTo>
                <a:lnTo>
                  <a:pt x="0" y="0"/>
                </a:lnTo>
                <a:close/>
              </a:path>
            </a:pathLst>
          </a:custGeom>
          <a:solidFill>
            <a:schemeClr val="bg1">
              <a:alpha val="80000"/>
            </a:schemeClr>
          </a:solidFill>
          <a:ln w="12700" cap="sq">
            <a:solidFill>
              <a:schemeClr val="bg1">
                <a:alpha val="10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8" name="任意多边形: 形状 37"/>
          <p:cNvSpPr txBox="1"/>
          <p:nvPr/>
        </p:nvSpPr>
        <p:spPr>
          <a:xfrm>
            <a:off x="0" y="4658262"/>
            <a:ext cx="470958" cy="2199739"/>
          </a:xfrm>
          <a:custGeom>
            <a:avLst/>
            <a:gdLst>
              <a:gd name="connsiteX0" fmla="*/ 0 w 470958"/>
              <a:gd name="connsiteY0" fmla="*/ 0 h 2199739"/>
              <a:gd name="connsiteX1" fmla="*/ 15227 w 470958"/>
              <a:gd name="connsiteY1" fmla="*/ 1535 h 2199739"/>
              <a:gd name="connsiteX2" fmla="*/ 470958 w 470958"/>
              <a:gd name="connsiteY2" fmla="*/ 560698 h 2199739"/>
              <a:gd name="connsiteX3" fmla="*/ 470957 w 470958"/>
              <a:gd name="connsiteY3" fmla="*/ 2199739 h 2199739"/>
              <a:gd name="connsiteX4" fmla="*/ 0 w 470958"/>
              <a:gd name="connsiteY4" fmla="*/ 2199739 h 2199739"/>
              <a:gd name="connsiteX5" fmla="*/ 0 w 470958"/>
              <a:gd name="connsiteY5" fmla="*/ 0 h 2199739"/>
            </a:gdLst>
            <a:ahLst/>
            <a:cxnLst/>
            <a:rect l="l" t="t" r="r" b="b"/>
            <a:pathLst>
              <a:path w="470958" h="2199739">
                <a:moveTo>
                  <a:pt x="0" y="0"/>
                </a:moveTo>
                <a:lnTo>
                  <a:pt x="15227" y="1535"/>
                </a:lnTo>
                <a:cubicBezTo>
                  <a:pt x="275312" y="54756"/>
                  <a:pt x="470958" y="284880"/>
                  <a:pt x="470958" y="560698"/>
                </a:cubicBezTo>
                <a:lnTo>
                  <a:pt x="470957" y="2199739"/>
                </a:lnTo>
                <a:lnTo>
                  <a:pt x="0" y="2199739"/>
                </a:lnTo>
                <a:lnTo>
                  <a:pt x="0" y="0"/>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椭圆 13"/>
          <p:cNvSpPr txBox="1"/>
          <p:nvPr/>
        </p:nvSpPr>
        <p:spPr>
          <a:xfrm flipH="1">
            <a:off x="5713826" y="2395168"/>
            <a:ext cx="8672733" cy="8672736"/>
          </a:xfrm>
          <a:prstGeom prst="ellipse">
            <a:avLst/>
          </a:prstGeom>
          <a:solidFill>
            <a:schemeClr val="bg1">
              <a:alpha val="16000"/>
            </a:schemeClr>
          </a:solidFill>
          <a:ln w="12700" cap="sq">
            <a:solidFill>
              <a:schemeClr val="accent2"/>
            </a:solidFill>
            <a:miter/>
          </a:ln>
          <a:effectLst>
            <a:outerShdw blurRad="419100" dist="304800" dir="8100000" algn="tr" rotWithShape="0">
              <a:schemeClr val="accent1">
                <a:alpha val="2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5" name="任意多边形: 形状 11"/>
          <p:cNvSpPr txBox="1"/>
          <p:nvPr/>
        </p:nvSpPr>
        <p:spPr>
          <a:xfrm flipH="1">
            <a:off x="9260953" y="3270314"/>
            <a:ext cx="2033424" cy="1159053"/>
          </a:xfrm>
          <a:custGeom>
            <a:avLst/>
            <a:gdLst>
              <a:gd name="connsiteX0" fmla="*/ 879230 w 1758460"/>
              <a:gd name="connsiteY0" fmla="*/ 0 h 1002323"/>
              <a:gd name="connsiteX1" fmla="*/ 0 w 1758460"/>
              <a:gd name="connsiteY1" fmla="*/ 879231 h 1002323"/>
              <a:gd name="connsiteX2" fmla="*/ 1014 w 1758460"/>
              <a:gd name="connsiteY2" fmla="*/ 899328 h 1002323"/>
              <a:gd name="connsiteX3" fmla="*/ 130464 w 1758460"/>
              <a:gd name="connsiteY3" fmla="*/ 929204 h 1002323"/>
              <a:gd name="connsiteX4" fmla="*/ 855784 w 1758460"/>
              <a:gd name="connsiteY4" fmla="*/ 1002323 h 1002323"/>
              <a:gd name="connsiteX5" fmla="*/ 1755228 w 1758460"/>
              <a:gd name="connsiteY5" fmla="*/ 889017 h 1002323"/>
              <a:gd name="connsiteX6" fmla="*/ 1758006 w 1758460"/>
              <a:gd name="connsiteY6" fmla="*/ 888228 h 1002323"/>
              <a:gd name="connsiteX7" fmla="*/ 1758460 w 1758460"/>
              <a:gd name="connsiteY7" fmla="*/ 879231 h 1002323"/>
              <a:gd name="connsiteX8" fmla="*/ 879230 w 1758460"/>
              <a:gd name="connsiteY8" fmla="*/ 0 h 1002323"/>
            </a:gdLst>
            <a:ahLst/>
            <a:cxnLst/>
            <a:rect l="l" t="t" r="r" b="b"/>
            <a:pathLst>
              <a:path w="1758460" h="1002323">
                <a:moveTo>
                  <a:pt x="879230" y="0"/>
                </a:moveTo>
                <a:cubicBezTo>
                  <a:pt x="393644" y="0"/>
                  <a:pt x="0" y="393645"/>
                  <a:pt x="0" y="879231"/>
                </a:cubicBezTo>
                <a:lnTo>
                  <a:pt x="1014" y="899328"/>
                </a:lnTo>
                <a:lnTo>
                  <a:pt x="130464" y="929204"/>
                </a:lnTo>
                <a:cubicBezTo>
                  <a:pt x="364748" y="977146"/>
                  <a:pt x="607326" y="1002323"/>
                  <a:pt x="855784" y="1002323"/>
                </a:cubicBezTo>
                <a:cubicBezTo>
                  <a:pt x="1166356" y="1002323"/>
                  <a:pt x="1467742" y="962984"/>
                  <a:pt x="1755228" y="889017"/>
                </a:cubicBezTo>
                <a:lnTo>
                  <a:pt x="1758006" y="888228"/>
                </a:lnTo>
                <a:lnTo>
                  <a:pt x="1758460" y="879231"/>
                </a:lnTo>
                <a:cubicBezTo>
                  <a:pt x="1758460" y="393645"/>
                  <a:pt x="1364816" y="0"/>
                  <a:pt x="879230" y="0"/>
                </a:cubicBezTo>
                <a:close/>
              </a:path>
            </a:pathLst>
          </a:custGeom>
          <a:gradFill>
            <a:gsLst>
              <a:gs pos="0">
                <a:schemeClr val="accent2">
                  <a:alpha val="0"/>
                </a:schemeClr>
              </a:gs>
              <a:gs pos="100000">
                <a:schemeClr val="accent2">
                  <a:alpha val="64000"/>
                </a:schemeClr>
              </a:gs>
            </a:gsLst>
            <a:path path="circle">
              <a:fillToRect l="100000" t="100000"/>
            </a:path>
            <a:tileRect r="-100000" b="-100000"/>
          </a:gradFill>
          <a:ln w="12700" cap="sq">
            <a:noFill/>
            <a:miter/>
          </a:ln>
          <a:effectLst>
            <a:outerShdw blurRad="419100" dist="304800" dir="8100000" algn="tr" rotWithShape="0">
              <a:schemeClr val="accent1">
                <a:alpha val="2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6" name="任意多边形: 形状 9"/>
          <p:cNvSpPr txBox="1"/>
          <p:nvPr/>
        </p:nvSpPr>
        <p:spPr>
          <a:xfrm flipH="1">
            <a:off x="9261802" y="4304480"/>
            <a:ext cx="2031726" cy="1006309"/>
          </a:xfrm>
          <a:custGeom>
            <a:avLst/>
            <a:gdLst>
              <a:gd name="connsiteX0" fmla="*/ 1756992 w 1756992"/>
              <a:gd name="connsiteY0" fmla="*/ 0 h 870234"/>
              <a:gd name="connsiteX1" fmla="*/ 1754214 w 1756992"/>
              <a:gd name="connsiteY1" fmla="*/ 789 h 870234"/>
              <a:gd name="connsiteX2" fmla="*/ 854770 w 1756992"/>
              <a:gd name="connsiteY2" fmla="*/ 114095 h 870234"/>
              <a:gd name="connsiteX3" fmla="*/ 129450 w 1756992"/>
              <a:gd name="connsiteY3" fmla="*/ 40976 h 870234"/>
              <a:gd name="connsiteX4" fmla="*/ 0 w 1756992"/>
              <a:gd name="connsiteY4" fmla="*/ 11100 h 870234"/>
              <a:gd name="connsiteX5" fmla="*/ 3526 w 1756992"/>
              <a:gd name="connsiteY5" fmla="*/ 80899 h 870234"/>
              <a:gd name="connsiteX6" fmla="*/ 878216 w 1756992"/>
              <a:gd name="connsiteY6" fmla="*/ 870234 h 870234"/>
              <a:gd name="connsiteX7" fmla="*/ 1752906 w 1756992"/>
              <a:gd name="connsiteY7" fmla="*/ 80899 h 870234"/>
              <a:gd name="connsiteX8" fmla="*/ 1756992 w 1756992"/>
              <a:gd name="connsiteY8" fmla="*/ 0 h 870234"/>
            </a:gdLst>
            <a:ahLst/>
            <a:cxnLst/>
            <a:rect l="l" t="t" r="r" b="b"/>
            <a:pathLst>
              <a:path w="1756992" h="870234">
                <a:moveTo>
                  <a:pt x="1756992" y="0"/>
                </a:moveTo>
                <a:lnTo>
                  <a:pt x="1754214" y="789"/>
                </a:lnTo>
                <a:cubicBezTo>
                  <a:pt x="1466728" y="74756"/>
                  <a:pt x="1165342" y="114095"/>
                  <a:pt x="854770" y="114095"/>
                </a:cubicBezTo>
                <a:cubicBezTo>
                  <a:pt x="606312" y="114095"/>
                  <a:pt x="363734" y="88918"/>
                  <a:pt x="129450" y="40976"/>
                </a:cubicBezTo>
                <a:lnTo>
                  <a:pt x="0" y="11100"/>
                </a:lnTo>
                <a:lnTo>
                  <a:pt x="3526" y="80899"/>
                </a:lnTo>
                <a:cubicBezTo>
                  <a:pt x="48550" y="524257"/>
                  <a:pt x="422980" y="870234"/>
                  <a:pt x="878216" y="870234"/>
                </a:cubicBezTo>
                <a:cubicBezTo>
                  <a:pt x="1333452" y="870234"/>
                  <a:pt x="1707882" y="524257"/>
                  <a:pt x="1752906" y="80899"/>
                </a:cubicBezTo>
                <a:lnTo>
                  <a:pt x="1756992" y="0"/>
                </a:lnTo>
                <a:close/>
              </a:path>
            </a:pathLst>
          </a:custGeom>
          <a:gradFill>
            <a:gsLst>
              <a:gs pos="0">
                <a:schemeClr val="accent2"/>
              </a:gs>
              <a:gs pos="82000">
                <a:schemeClr val="accent2">
                  <a:lumMod val="75000"/>
                </a:schemeClr>
              </a:gs>
            </a:gsLst>
            <a:path path="circle">
              <a:fillToRect l="100000" t="100000"/>
            </a:path>
            <a:tileRect r="-100000" b="-100000"/>
          </a:gradFill>
          <a:ln w="12700" cap="sq">
            <a:solidFill>
              <a:schemeClr val="bg1"/>
            </a:solidFill>
            <a:miter/>
          </a:ln>
          <a:effectLst>
            <a:outerShdw blurRad="419100" dist="304800" dir="8100000" algn="tr" rotWithShape="0">
              <a:schemeClr val="accent1">
                <a:alpha val="2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7" name="椭圆 12"/>
          <p:cNvSpPr txBox="1"/>
          <p:nvPr/>
        </p:nvSpPr>
        <p:spPr>
          <a:xfrm>
            <a:off x="8986856" y="4028104"/>
            <a:ext cx="493445" cy="493445"/>
          </a:xfrm>
          <a:prstGeom prst="ellipse">
            <a:avLst/>
          </a:prstGeom>
          <a:gradFill>
            <a:gsLst>
              <a:gs pos="0">
                <a:schemeClr val="accent1"/>
              </a:gs>
              <a:gs pos="100000">
                <a:schemeClr val="accent1">
                  <a:lumMod val="75000"/>
                </a:schemeClr>
              </a:gs>
            </a:gsLst>
            <a:path path="circle">
              <a:fillToRect l="100000" t="100000"/>
            </a:path>
            <a:tileRect r="-100000" b="-100000"/>
          </a:gradFill>
          <a:ln w="12700" cap="sq">
            <a:noFill/>
            <a:miter/>
          </a:ln>
          <a:effectLst>
            <a:outerShdw blurRad="190500" sx="102000" sy="102000" algn="ctr" rotWithShape="0">
              <a:srgbClr val="000000">
                <a:alpha val="32000"/>
              </a:srgbClr>
            </a:outerShdw>
          </a:effectLst>
        </p:spPr>
        <p:txBody>
          <a:bodyPr vert="horz" wrap="square" lIns="91440" tIns="45720" rIns="91440" bIns="45720" rtlCol="0" anchor="ctr"/>
          <a:lstStyle/>
          <a:p>
            <a:pPr algn="ctr">
              <a:lnSpc>
                <a:spcPct val="110000"/>
              </a:lnSpc>
            </a:pPr>
            <a:endParaRPr kumimoji="1" lang="zh-CN" altLang="en-US"/>
          </a:p>
        </p:txBody>
      </p:sp>
      <p:sp>
        <p:nvSpPr>
          <p:cNvPr id="18" name="任意多边形: 形状 47"/>
          <p:cNvSpPr txBox="1"/>
          <p:nvPr/>
        </p:nvSpPr>
        <p:spPr>
          <a:xfrm>
            <a:off x="660400" y="6235699"/>
            <a:ext cx="584741" cy="108086"/>
          </a:xfrm>
          <a:custGeom>
            <a:avLst/>
            <a:gdLst>
              <a:gd name="connsiteX0" fmla="*/ 530698 w 584741"/>
              <a:gd name="connsiteY0" fmla="*/ 0 h 108086"/>
              <a:gd name="connsiteX1" fmla="*/ 584741 w 584741"/>
              <a:gd name="connsiteY1" fmla="*/ 54043 h 108086"/>
              <a:gd name="connsiteX2" fmla="*/ 530698 w 584741"/>
              <a:gd name="connsiteY2" fmla="*/ 108086 h 108086"/>
              <a:gd name="connsiteX3" fmla="*/ 476655 w 584741"/>
              <a:gd name="connsiteY3" fmla="*/ 54043 h 108086"/>
              <a:gd name="connsiteX4" fmla="*/ 530698 w 584741"/>
              <a:gd name="connsiteY4" fmla="*/ 0 h 108086"/>
              <a:gd name="connsiteX5" fmla="*/ 292371 w 584741"/>
              <a:gd name="connsiteY5" fmla="*/ 0 h 108086"/>
              <a:gd name="connsiteX6" fmla="*/ 346414 w 584741"/>
              <a:gd name="connsiteY6" fmla="*/ 54043 h 108086"/>
              <a:gd name="connsiteX7" fmla="*/ 292371 w 584741"/>
              <a:gd name="connsiteY7" fmla="*/ 108086 h 108086"/>
              <a:gd name="connsiteX8" fmla="*/ 238328 w 584741"/>
              <a:gd name="connsiteY8" fmla="*/ 54043 h 108086"/>
              <a:gd name="connsiteX9" fmla="*/ 292371 w 584741"/>
              <a:gd name="connsiteY9" fmla="*/ 0 h 108086"/>
              <a:gd name="connsiteX10" fmla="*/ 54043 w 584741"/>
              <a:gd name="connsiteY10" fmla="*/ 0 h 108086"/>
              <a:gd name="connsiteX11" fmla="*/ 108086 w 584741"/>
              <a:gd name="connsiteY11" fmla="*/ 54043 h 108086"/>
              <a:gd name="connsiteX12" fmla="*/ 54043 w 584741"/>
              <a:gd name="connsiteY12" fmla="*/ 108086 h 108086"/>
              <a:gd name="connsiteX13" fmla="*/ 0 w 584741"/>
              <a:gd name="connsiteY13" fmla="*/ 54043 h 108086"/>
              <a:gd name="connsiteX14" fmla="*/ 54043 w 584741"/>
              <a:gd name="connsiteY14" fmla="*/ 0 h 108086"/>
            </a:gdLst>
            <a:ahLst/>
            <a:cxnLst/>
            <a:rect l="l" t="t" r="r" b="b"/>
            <a:pathLst>
              <a:path w="584741" h="108086">
                <a:moveTo>
                  <a:pt x="530698" y="0"/>
                </a:moveTo>
                <a:cubicBezTo>
                  <a:pt x="560545" y="0"/>
                  <a:pt x="584741" y="24196"/>
                  <a:pt x="584741" y="54043"/>
                </a:cubicBezTo>
                <a:cubicBezTo>
                  <a:pt x="584741" y="83890"/>
                  <a:pt x="560545" y="108086"/>
                  <a:pt x="530698" y="108086"/>
                </a:cubicBezTo>
                <a:cubicBezTo>
                  <a:pt x="500851" y="108086"/>
                  <a:pt x="476655" y="83890"/>
                  <a:pt x="476655" y="54043"/>
                </a:cubicBezTo>
                <a:cubicBezTo>
                  <a:pt x="476655" y="24196"/>
                  <a:pt x="500851" y="0"/>
                  <a:pt x="530698" y="0"/>
                </a:cubicBezTo>
                <a:close/>
                <a:moveTo>
                  <a:pt x="292371" y="0"/>
                </a:moveTo>
                <a:cubicBezTo>
                  <a:pt x="322218" y="0"/>
                  <a:pt x="346414" y="24196"/>
                  <a:pt x="346414" y="54043"/>
                </a:cubicBezTo>
                <a:cubicBezTo>
                  <a:pt x="346414" y="83890"/>
                  <a:pt x="322218" y="108086"/>
                  <a:pt x="292371" y="108086"/>
                </a:cubicBezTo>
                <a:cubicBezTo>
                  <a:pt x="262524" y="108086"/>
                  <a:pt x="238328" y="83890"/>
                  <a:pt x="238328" y="54043"/>
                </a:cubicBezTo>
                <a:cubicBezTo>
                  <a:pt x="238328" y="24196"/>
                  <a:pt x="262524" y="0"/>
                  <a:pt x="292371" y="0"/>
                </a:cubicBezTo>
                <a:close/>
                <a:moveTo>
                  <a:pt x="54043" y="0"/>
                </a:moveTo>
                <a:cubicBezTo>
                  <a:pt x="83890" y="0"/>
                  <a:pt x="108086" y="24196"/>
                  <a:pt x="108086" y="54043"/>
                </a:cubicBezTo>
                <a:cubicBezTo>
                  <a:pt x="108086" y="83890"/>
                  <a:pt x="83890" y="108086"/>
                  <a:pt x="54043" y="108086"/>
                </a:cubicBezTo>
                <a:cubicBezTo>
                  <a:pt x="24196" y="108086"/>
                  <a:pt x="0" y="83890"/>
                  <a:pt x="0" y="54043"/>
                </a:cubicBezTo>
                <a:cubicBezTo>
                  <a:pt x="0" y="24196"/>
                  <a:pt x="24196" y="0"/>
                  <a:pt x="54043" y="0"/>
                </a:cubicBezTo>
                <a:close/>
              </a:path>
            </a:pathLst>
          </a:custGeom>
          <a:gradFill>
            <a:gsLst>
              <a:gs pos="0">
                <a:schemeClr val="accent1"/>
              </a:gs>
              <a:gs pos="100000">
                <a:schemeClr val="accent2"/>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14"/>
          <p:cNvSpPr txBox="1"/>
          <p:nvPr/>
        </p:nvSpPr>
        <p:spPr>
          <a:xfrm>
            <a:off x="526048" y="2081174"/>
            <a:ext cx="7258075" cy="2303808"/>
          </a:xfrm>
          <a:prstGeom prst="rect">
            <a:avLst/>
          </a:prstGeom>
          <a:noFill/>
          <a:ln>
            <a:noFill/>
          </a:ln>
        </p:spPr>
        <p:txBody>
          <a:bodyPr vert="horz" wrap="square" lIns="0" tIns="0" rIns="0" bIns="0" rtlCol="0" anchor="ctr"/>
          <a:lstStyle/>
          <a:p>
            <a:pPr algn="ctr">
              <a:lnSpc>
                <a:spcPct val="130000"/>
              </a:lnSpc>
            </a:pPr>
            <a:r>
              <a:rPr kumimoji="1" lang="en-US" altLang="zh-CN" sz="5500" b="1" dirty="0">
                <a:ln w="12700">
                  <a:noFill/>
                </a:ln>
                <a:solidFill>
                  <a:schemeClr val="tx2"/>
                </a:solidFill>
                <a:latin typeface="微软雅黑" panose="020B0503020204020204" pitchFamily="34" charset="-122"/>
                <a:ea typeface="微软雅黑" panose="020B0503020204020204" pitchFamily="34" charset="-122"/>
                <a:cs typeface="Source Han Sans CN Regular"/>
              </a:rPr>
              <a:t>谢 </a:t>
            </a:r>
            <a:r>
              <a:rPr kumimoji="1" lang="en-US" altLang="zh-CN" sz="5500" b="1" dirty="0" err="1">
                <a:ln w="12700">
                  <a:noFill/>
                </a:ln>
                <a:solidFill>
                  <a:schemeClr val="tx2"/>
                </a:solidFill>
                <a:latin typeface="微软雅黑" panose="020B0503020204020204" pitchFamily="34" charset="-122"/>
                <a:ea typeface="微软雅黑" panose="020B0503020204020204" pitchFamily="34" charset="-122"/>
                <a:cs typeface="Source Han Sans CN Regular"/>
              </a:rPr>
              <a:t>谢</a:t>
            </a:r>
            <a:endParaRPr kumimoji="1" lang="zh-CN" altLang="en-US" b="1" dirty="0">
              <a:solidFill>
                <a:schemeClr val="tx2"/>
              </a:solidFill>
              <a:latin typeface="微软雅黑" panose="020B0503020204020204" pitchFamily="34" charset="-122"/>
              <a:ea typeface="微软雅黑" panose="020B0503020204020204" pitchFamily="34" charset="-122"/>
            </a:endParaRPr>
          </a:p>
        </p:txBody>
      </p:sp>
      <p:sp>
        <p:nvSpPr>
          <p:cNvPr id="13" name="文本框 12"/>
          <p:cNvSpPr txBox="1"/>
          <p:nvPr>
            <p:custDataLst>
              <p:tags r:id="rId1"/>
            </p:custDataLst>
          </p:nvPr>
        </p:nvSpPr>
        <p:spPr>
          <a:xfrm>
            <a:off x="470958" y="4301789"/>
            <a:ext cx="4998107" cy="400110"/>
          </a:xfrm>
          <a:prstGeom prst="rect">
            <a:avLst/>
          </a:prstGeom>
          <a:noFill/>
        </p:spPr>
        <p:txBody>
          <a:bodyPr wrap="square" rtlCol="0">
            <a:spAutoFit/>
          </a:bodyPr>
          <a:lstStyle/>
          <a:p>
            <a:r>
              <a:rPr lang="zh-CN" altLang="en-US" sz="2000" dirty="0">
                <a:solidFill>
                  <a:schemeClr val="bg2">
                    <a:lumMod val="25000"/>
                  </a:schemeClr>
                </a:solidFill>
                <a:latin typeface="微软雅黑" panose="020B0503020204020204" pitchFamily="34" charset="-122"/>
                <a:ea typeface="微软雅黑" panose="020B0503020204020204" pitchFamily="34" charset="-122"/>
              </a:rPr>
              <a:t>团队：刘安然 </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陈钰婷 </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陈妍 </a:t>
            </a:r>
            <a:r>
              <a:rPr lang="en-US" altLang="zh-CN" sz="20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000" dirty="0">
                <a:solidFill>
                  <a:schemeClr val="bg2">
                    <a:lumMod val="25000"/>
                  </a:schemeClr>
                </a:solidFill>
                <a:latin typeface="微软雅黑" panose="020B0503020204020204" pitchFamily="34" charset="-122"/>
                <a:ea typeface="微软雅黑" panose="020B0503020204020204" pitchFamily="34" charset="-122"/>
              </a:rPr>
              <a:t>任怡博</a:t>
            </a:r>
            <a:endParaRPr lang="en-US" altLang="zh-CN" sz="2000" dirty="0">
              <a:solidFill>
                <a:schemeClr val="bg2">
                  <a:lumMod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80,&quot;left&quot;:60,&quot;top&quot;:130,&quot;width&quot;:840}"/>
</p:tagLst>
</file>

<file path=ppt/tags/tag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765,&quot;width&quot;:6206}"/>
</p:tagLst>
</file>

<file path=ppt/tags/tag1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765,&quot;width&quot;:620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5.1791338582678,&quot;left&quot;:457.16299212598426,&quot;top&quot;:156.47732283464566,&quot;width&quot;:469.742755905511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5.1791338582678,&quot;left&quot;:457.16299212598426,&quot;top&quot;:156.47732283464566,&quot;width&quot;:469.742755905511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29.2356692913386,&quot;left&quot;:43.86755905511811,&quot;top&quot;:98.92322834645668,&quot;width&quot;:881.814015748031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46.3,&quot;left&quot;:60,&quot;top&quot;:63.7,&quot;width&quot;:913}"/>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18.4052755905512,&quot;left&quot;:371.2,&quot;top&quot;:97.4,&quot;width&quot;:547.55}"/>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242852"/>
      </a:dk2>
      <a:lt2>
        <a:srgbClr val="ACCBF9"/>
      </a:lt2>
      <a:accent1>
        <a:srgbClr val="4A66AC"/>
      </a:accent1>
      <a:accent2>
        <a:srgbClr val="629DD1"/>
      </a:accent2>
      <a:accent3>
        <a:srgbClr val="4A66AC"/>
      </a:accent3>
      <a:accent4>
        <a:srgbClr val="629DD1"/>
      </a:accent4>
      <a:accent5>
        <a:srgbClr val="4A66AC"/>
      </a:accent5>
      <a:accent6>
        <a:srgbClr val="629DD1"/>
      </a:accent6>
      <a:hlink>
        <a:srgbClr val="9454C3"/>
      </a:hlink>
      <a:folHlink>
        <a:srgbClr val="3EBBF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1577</TotalTime>
  <Words>1522</Words>
  <Application>Microsoft Office PowerPoint</Application>
  <PresentationFormat>宽屏</PresentationFormat>
  <Paragraphs>161</Paragraphs>
  <Slides>19</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Noto Sans SC</vt:lpstr>
      <vt:lpstr>等线</vt:lpstr>
      <vt:lpstr>思源黑体 CN Medium</vt:lpstr>
      <vt:lpstr>微软雅黑</vt:lpstr>
      <vt:lpstr>Arial</vt:lpstr>
      <vt:lpstr>Calibri</vt:lpstr>
      <vt:lpstr>Cambria Math</vt:lpstr>
      <vt:lpstr>Roboto</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安然 刘</cp:lastModifiedBy>
  <cp:revision>6</cp:revision>
  <dcterms:created xsi:type="dcterms:W3CDTF">2026-06-06T16:35:11Z</dcterms:created>
  <dcterms:modified xsi:type="dcterms:W3CDTF">2026-06-08T03:25:04Z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D6BEX800000","ProduceID":"A68D60233297Z53350122","ReservedCode1":"{\"SecurityData\":{\"Type\":\"TC260PG\",\"Version\":1,\"PubSD\":[{\"Type\":\"DS\",\"AlgID\":\"1.2.156.10197.1.501\",\"TBSData\":{\"Type\":\"LabelMataData\"},\"Signature\":\"304502202c783d4d5442311273842fb22665851627e49f6b794dfb3c34bd3984d1b5a45d0221008727cf235782095f033565f91dc2f7d619c9a77b8d253374e072f697d4132dec\"},{\"Type\":\"PubKey\",\"AlgID\":\"1.2.156.10197.1.501\",\"KeyValue\":\"MFkwEwYHKoZIzj0CAQYIKoEcz1UBgi0DQgAE4htNGUcC6HU4Sf91jDiDCP+kHy7sm5Nd8uJmcY3w5omySS+3GQlfi/4sr6ilLGbKi9V2Z5I0ASiAQPEvlhe2mw==\",\"Certificate\":\"MIIBgzCCASmgAwIBAgIBATAKBggqgRzPVQGDdTAtMQ4wDAYDVQQKEwVBaVBQVDEbMBkGA1UEBRMSOTExMTAxMDVNQTAxRDZCRVg4MCAXDTI1MDgwODA4Mjk1MloYDzIxMjUwODA4MDgyOTUyWjAtMQ4wDAYDVQQKEwVBaVBQVDEbMBkGA1UEBRMSOTExMTAxMDVNQTAxRDZCRVg4MFkwEwYHKoZIzj0CAQYIKoEcz1UBgi0DQgAE4htNGUcC6HU4Sf91jDiDCP+kHy7sm5Nd8uJmcY3w5omySS+3GQlfi/4sr6ilLGbKi9V2Z5I0ASiAQPEvlhe2m6M4MDYwDgYDVR0PAQH/BAQDAgWgMBMGA1UdJQQMMAoGCCsGAQUFBwMBMA8GA1UdEwEB/wQFMAMBAf8wCgYIKoEcz1UBg3UDSAAwRQIgS9o/xI9kRYojx1MkW/gD8fAbyborHu7tLo1gGuqcuMwCIQDpeKBcdxdIHGAYHLU3bTjOkcDszYUezVcY2oQW7R1oQg==\"}]}}","ContentPropagator":"001191110105MA01D6BEX800000","PropagateID":"A68D60233297Z53350122","ReservedCode2":"{\"SecurityData\":{\"Type\":\"TC260PG\",\"Version\":1,\"PubSD\":[{\"Type\":\"DS\",\"AlgID\":\"1.2.156.10197.1.501\",\"TBSData\":{\"Type\":\"LabelMataData\"},\"Signature\":\"3045022100e73da3c9778a9451fb1969327af985484d9089dfe2b79f53ce296211490a96fe0220688bd234080b4fa267f868b64f597416cb94772458caa0f8f5b2edef2eaf2d64\"},{\"Type\":\"PubKey\",\"AlgID\":\"1.2.156.10197.1.501\",\"KeyValue\":\"MFkwEwYHKoZIzj0CAQYIKoEcz1UBgi0DQgAE4htNGUcC6HU4Sf91jDiDCP+kHy7sm5Nd8uJmcY3w5omySS+3GQlfi/4sr6ilLGbKi9V2Z5I0ASiAQPEvlhe2mw==\",\"Certificate\":\"MIIBgzCCASmgAwIBAgIBATAKBggqgRzPVQGDdTAtMQ4wDAYDVQQKEwVBaVBQVDEbMBkGA1UEBRMSOTExMTAxMDVNQTAxRDZCRVg4MCAXDTI1MDgwODA4Mjk1MloYDzIxMjUwODA4MDgyOTUyWjAtMQ4wDAYDVQQKEwVBaVBQVDEbMBkGA1UEBRMSOTExMTAxMDVNQTAxRDZCRVg4MFkwEwYHKoZIzj0CAQYIKoEcz1UBgi0DQgAE4htNGUcC6HU4Sf91jDiDCP+kHy7sm5Nd8uJmcY3w5omySS+3GQlfi/4sr6ilLGbKi9V2Z5I0ASiAQPEvlhe2m6M4MDYwDgYDVR0PAQH/BAQDAgWgMBMGA1UdJQQMMAoGCCsGAQUFBwMBMA8GA1UdEwEB/wQFMAMBAf8wCgYIKoEcz1UBg3UDSAAwRQIgS9o/xI9kRYojx1MkW/gD8fAbyborHu7tLo1gGuqcuMwCIQDpeKBcdxdIHGAYHLU3bTjOkcDszYUezVcY2oQW7R1oQg==\"}]}}"}</vt:lpwstr>
  </property>
  <property fmtid="{D5CDD505-2E9C-101B-9397-08002B2CF9AE}" pid="3" name="ICV">
    <vt:lpwstr>F45E3FE50A524D23AEC66515D3BD767C_13</vt:lpwstr>
  </property>
  <property fmtid="{D5CDD505-2E9C-101B-9397-08002B2CF9AE}" pid="4" name="KSOProductBuildVer">
    <vt:lpwstr>2052-12.1.0.26895</vt:lpwstr>
  </property>
</Properties>
</file>